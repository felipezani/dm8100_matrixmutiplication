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7"/>
  </p:notesMasterIdLst>
  <p:handoutMasterIdLst>
    <p:handoutMasterId r:id="rId28"/>
  </p:handoutMasterIdLst>
  <p:sldIdLst>
    <p:sldId id="256" r:id="rId5"/>
    <p:sldId id="268" r:id="rId6"/>
    <p:sldId id="269" r:id="rId7"/>
    <p:sldId id="261" r:id="rId8"/>
    <p:sldId id="262" r:id="rId9"/>
    <p:sldId id="259" r:id="rId10"/>
    <p:sldId id="258" r:id="rId11"/>
    <p:sldId id="270" r:id="rId12"/>
    <p:sldId id="272" r:id="rId13"/>
    <p:sldId id="275" r:id="rId14"/>
    <p:sldId id="265" r:id="rId15"/>
    <p:sldId id="271" r:id="rId16"/>
    <p:sldId id="274" r:id="rId17"/>
    <p:sldId id="273" r:id="rId18"/>
    <p:sldId id="263" r:id="rId19"/>
    <p:sldId id="282" r:id="rId20"/>
    <p:sldId id="276" r:id="rId21"/>
    <p:sldId id="277" r:id="rId22"/>
    <p:sldId id="278" r:id="rId23"/>
    <p:sldId id="279" r:id="rId24"/>
    <p:sldId id="280" r:id="rId25"/>
    <p:sldId id="26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Προεπιλεγμένη ενότητα" id="{DD6CA5D1-28F9-4CCB-A5F6-A439128F3BA1}">
          <p14:sldIdLst>
            <p14:sldId id="256"/>
            <p14:sldId id="268"/>
            <p14:sldId id="269"/>
            <p14:sldId id="261"/>
            <p14:sldId id="262"/>
            <p14:sldId id="259"/>
          </p14:sldIdLst>
        </p14:section>
        <p14:section name="strong scaling" id="{22811704-C2CD-45ED-8B22-D7935F48F68D}">
          <p14:sldIdLst>
            <p14:sldId id="258"/>
            <p14:sldId id="270"/>
            <p14:sldId id="272"/>
            <p14:sldId id="275"/>
            <p14:sldId id="265"/>
            <p14:sldId id="271"/>
            <p14:sldId id="274"/>
          </p14:sldIdLst>
        </p14:section>
        <p14:section name="weak scaling" id="{6543CFA8-03D6-4746-953F-D7C27F0D7849}">
          <p14:sldIdLst>
            <p14:sldId id="273"/>
            <p14:sldId id="263"/>
            <p14:sldId id="282"/>
            <p14:sldId id="276"/>
            <p14:sldId id="277"/>
            <p14:sldId id="278"/>
            <p14:sldId id="279"/>
            <p14:sldId id="280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20319-D34D-4B91-B40F-DE00126BE221}" v="689" dt="2026-05-21T00:15:09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4" autoAdjust="0"/>
    <p:restoredTop sz="90655" autoAdjust="0"/>
  </p:normalViewPr>
  <p:slideViewPr>
    <p:cSldViewPr snapToGrid="0">
      <p:cViewPr>
        <p:scale>
          <a:sx n="61" d="100"/>
          <a:sy n="61" d="100"/>
        </p:scale>
        <p:origin x="115" y="10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Parallel_Programming" TargetMode="External"/><Relationship Id="rId7" Type="http://schemas.openxmlformats.org/officeDocument/2006/relationships/hyperlink" Target="https://www.muo.jp/2016/05/nvidia-docker-tensorflow.html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5.jpg"/><Relationship Id="rId6" Type="http://schemas.openxmlformats.org/officeDocument/2006/relationships/image" Target="../media/image8.jpg"/><Relationship Id="rId5" Type="http://schemas.openxmlformats.org/officeDocument/2006/relationships/hyperlink" Target="https://hpc-wiki.info/hpc/MPI" TargetMode="External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Parallel_Programming" TargetMode="External"/><Relationship Id="rId7" Type="http://schemas.openxmlformats.org/officeDocument/2006/relationships/hyperlink" Target="https://www.muo.jp/2016/05/nvidia-docker-tensorflow.html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5.jpg"/><Relationship Id="rId6" Type="http://schemas.openxmlformats.org/officeDocument/2006/relationships/image" Target="../media/image8.jpg"/><Relationship Id="rId5" Type="http://schemas.openxmlformats.org/officeDocument/2006/relationships/hyperlink" Target="https://hpc-wiki.info/hpc/MPI" TargetMode="External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701D68F5-42F8-47BC-8FED-84C50F595DF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Serial</a:t>
          </a:r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OpenMP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MPI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9EC21176-2D75-478C-8B87-DD1C9F85C1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CUDA</a:t>
          </a:r>
        </a:p>
      </dgm:t>
    </dgm:pt>
    <dgm:pt modelId="{9066EF2E-B676-4A3D-B572-58AA2A1B8948}" type="sibTrans" cxnId="{FFDAD19B-3E49-44B8-A4DC-B2A3A67E8F2B}">
      <dgm:prSet/>
      <dgm:spPr/>
      <dgm:t>
        <a:bodyPr/>
        <a:lstStyle/>
        <a:p>
          <a:endParaRPr lang="en-GB"/>
        </a:p>
      </dgm:t>
    </dgm:pt>
    <dgm:pt modelId="{08059D12-CCF1-4776-9DF9-F29DEB2D82D1}" type="parTrans" cxnId="{FFDAD19B-3E49-44B8-A4DC-B2A3A67E8F2B}">
      <dgm:prSet/>
      <dgm:spPr/>
      <dgm:t>
        <a:bodyPr/>
        <a:lstStyle/>
        <a:p>
          <a:endParaRPr lang="en-GB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4" custScaleX="157625" custScaleY="157625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Πλακέτα κυκλώματος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4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4" custScaleX="157625" custScaleY="157625"/>
      <dgm:spPr>
        <a:blipFill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41000" r="-41000"/>
          </a:stretch>
        </a:blipFill>
      </dgm:spPr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4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4" custScaleX="157625" custScaleY="157625"/>
      <dgm:spPr>
        <a:blipFill>
          <a:blip xmlns:r="http://schemas.openxmlformats.org/officeDocument/2006/relationships"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l="-32000" r="-32000"/>
          </a:stretch>
        </a:blipFill>
      </dgm:spPr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4">
        <dgm:presLayoutVars>
          <dgm:chMax val="1"/>
          <dgm:chPref val="1"/>
        </dgm:presLayoutVars>
      </dgm:prSet>
      <dgm:spPr/>
    </dgm:pt>
    <dgm:pt modelId="{2FAC5F49-979C-4405-8B0A-502DC740C569}" type="pres">
      <dgm:prSet presAssocID="{FA28C9D6-476E-43CD-BA23-D6D990FD78D0}" presName="sibTrans" presStyleCnt="0"/>
      <dgm:spPr/>
    </dgm:pt>
    <dgm:pt modelId="{BD887FD8-252C-4B1A-8D9F-FBD9C27DBF93}" type="pres">
      <dgm:prSet presAssocID="{9EC21176-2D75-478C-8B87-DD1C9F85C122}" presName="compNode" presStyleCnt="0"/>
      <dgm:spPr/>
    </dgm:pt>
    <dgm:pt modelId="{EF7AE7A6-6A17-4536-A488-B7D89012D59D}" type="pres">
      <dgm:prSet presAssocID="{9EC21176-2D75-478C-8B87-DD1C9F85C122}" presName="iconRect" presStyleLbl="node1" presStyleIdx="3" presStyleCnt="4" custScaleX="157695" custScaleY="157695" custLinFactNeighborX="1491" custLinFactNeighborY="664"/>
      <dgm:spPr>
        <a:blipFill>
          <a:blip xmlns:r="http://schemas.openxmlformats.org/officeDocument/2006/relationships"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l="-17000" r="-17000"/>
          </a:stretch>
        </a:blipFill>
      </dgm:spPr>
    </dgm:pt>
    <dgm:pt modelId="{C8CC3B90-1E7C-493C-9F9A-E1FBDFB5ABFD}" type="pres">
      <dgm:prSet presAssocID="{9EC21176-2D75-478C-8B87-DD1C9F85C122}" presName="spaceRect" presStyleCnt="0"/>
      <dgm:spPr/>
    </dgm:pt>
    <dgm:pt modelId="{73885667-7FDA-4753-94EF-3FB152BBD288}" type="pres">
      <dgm:prSet presAssocID="{9EC21176-2D75-478C-8B87-DD1C9F85C12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FFDAD19B-3E49-44B8-A4DC-B2A3A67E8F2B}" srcId="{7D9C16A6-8C48-4165-8DAF-8C957C12A8FA}" destId="{9EC21176-2D75-478C-8B87-DD1C9F85C122}" srcOrd="3" destOrd="0" parTransId="{08059D12-CCF1-4776-9DF9-F29DEB2D82D1}" sibTransId="{9066EF2E-B676-4A3D-B572-58AA2A1B8948}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5DA1FBC3-9D49-4E09-8FE9-6598471CB5F1}" type="presOf" srcId="{9EC21176-2D75-478C-8B87-DD1C9F85C122}" destId="{73885667-7FDA-4753-94EF-3FB152BBD288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  <dgm:cxn modelId="{FE6FD96C-AFA2-49A2-95BC-DE245358DAD0}" type="presParOf" srcId="{8994D886-A75F-411A-A9D7-D31991FF12BD}" destId="{2FAC5F49-979C-4405-8B0A-502DC740C569}" srcOrd="5" destOrd="0" presId="urn:microsoft.com/office/officeart/2018/2/layout/IconLabelList"/>
    <dgm:cxn modelId="{F26B3775-9238-4B83-AD94-AD91FDEA3EF3}" type="presParOf" srcId="{8994D886-A75F-411A-A9D7-D31991FF12BD}" destId="{BD887FD8-252C-4B1A-8D9F-FBD9C27DBF93}" srcOrd="6" destOrd="0" presId="urn:microsoft.com/office/officeart/2018/2/layout/IconLabelList"/>
    <dgm:cxn modelId="{31884B0B-6B7C-44C5-9D1E-323F5D2ECD35}" type="presParOf" srcId="{BD887FD8-252C-4B1A-8D9F-FBD9C27DBF93}" destId="{EF7AE7A6-6A17-4536-A488-B7D89012D59D}" srcOrd="0" destOrd="0" presId="urn:microsoft.com/office/officeart/2018/2/layout/IconLabelList"/>
    <dgm:cxn modelId="{D2714EE9-8212-41AD-ABC2-A0ABE9907FC3}" type="presParOf" srcId="{BD887FD8-252C-4B1A-8D9F-FBD9C27DBF93}" destId="{C8CC3B90-1E7C-493C-9F9A-E1FBDFB5ABFD}" srcOrd="1" destOrd="0" presId="urn:microsoft.com/office/officeart/2018/2/layout/IconLabelList"/>
    <dgm:cxn modelId="{4340F443-F7F9-4AA9-9962-6A9C6990C207}" type="presParOf" srcId="{BD887FD8-252C-4B1A-8D9F-FBD9C27DBF93}" destId="{73885667-7FDA-4753-94EF-3FB152BBD288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DB3FC0-A31D-4B7A-8F46-A8F9A2A3C1C6}" type="doc">
      <dgm:prSet loTypeId="urn:microsoft.com/office/officeart/2024/layout/NumberedTitleLis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79F7AC2-C1D9-4F7F-9A13-6E32B58EA61F}">
      <dgm:prSet phldrT="[Κείμενο]" phldr="0"/>
      <dgm:spPr/>
      <dgm:t>
        <a:bodyPr/>
        <a:lstStyle/>
        <a:p>
          <a:r>
            <a:rPr lang="en-US" dirty="0"/>
            <a:t>Code Structure</a:t>
          </a:r>
          <a:br>
            <a:rPr lang="en-US" dirty="0"/>
          </a:br>
          <a:br>
            <a:rPr lang="en-US" dirty="0"/>
          </a:br>
          <a:r>
            <a:rPr lang="en-US" dirty="0"/>
            <a:t>Task[0,1,2]</a:t>
          </a:r>
          <a:endParaRPr lang="en-GB" dirty="0"/>
        </a:p>
      </dgm:t>
    </dgm:pt>
    <dgm:pt modelId="{0FB22EA1-F2A0-469D-8B3A-67661130E200}" type="parTrans" cxnId="{8DEC9F34-DB54-43F0-8EA5-1E87D80952E9}">
      <dgm:prSet/>
      <dgm:spPr/>
      <dgm:t>
        <a:bodyPr/>
        <a:lstStyle/>
        <a:p>
          <a:endParaRPr lang="en-GB"/>
        </a:p>
      </dgm:t>
    </dgm:pt>
    <dgm:pt modelId="{FFDDB3AF-D48A-45D4-9B56-C78BA1F8B808}" type="sibTrans" cxnId="{8DEC9F34-DB54-43F0-8EA5-1E87D80952E9}">
      <dgm:prSet phldrT="1" phldr="0"/>
      <dgm:spPr/>
      <dgm:t>
        <a:bodyPr/>
        <a:lstStyle/>
        <a:p>
          <a:r>
            <a:t>1</a:t>
          </a:r>
          <a:endParaRPr dirty="0"/>
        </a:p>
      </dgm:t>
    </dgm:pt>
    <dgm:pt modelId="{8851AAE5-C45E-4075-8BCF-CD2EA10CE2BD}">
      <dgm:prSet phldrT="[Κείμενο]" phldr="0"/>
      <dgm:spPr/>
      <dgm:t>
        <a:bodyPr/>
        <a:lstStyle/>
        <a:p>
          <a:r>
            <a:rPr lang="en-US" dirty="0"/>
            <a:t>Code Optimization</a:t>
          </a:r>
          <a:br>
            <a:rPr lang="en-US" dirty="0"/>
          </a:br>
          <a:br>
            <a:rPr lang="en-US" dirty="0"/>
          </a:br>
          <a:r>
            <a:rPr lang="en-US" dirty="0"/>
            <a:t>Task[0,1,2]</a:t>
          </a:r>
          <a:endParaRPr lang="en-GB" dirty="0"/>
        </a:p>
      </dgm:t>
    </dgm:pt>
    <dgm:pt modelId="{69D54B02-6218-4A31-A6FD-602BBAAAC2E3}" type="parTrans" cxnId="{A1955589-ECE6-4517-8D23-59F302B57056}">
      <dgm:prSet/>
      <dgm:spPr/>
      <dgm:t>
        <a:bodyPr/>
        <a:lstStyle/>
        <a:p>
          <a:endParaRPr lang="en-GB"/>
        </a:p>
      </dgm:t>
    </dgm:pt>
    <dgm:pt modelId="{4157DE7F-BD49-4199-A0CA-D65B13695BE3}" type="sibTrans" cxnId="{A1955589-ECE6-4517-8D23-59F302B57056}">
      <dgm:prSet phldrT="2" phldr="0"/>
      <dgm:spPr/>
      <dgm:t>
        <a:bodyPr/>
        <a:lstStyle/>
        <a:p>
          <a:r>
            <a:t>2</a:t>
          </a:r>
          <a:endParaRPr dirty="0"/>
        </a:p>
      </dgm:t>
    </dgm:pt>
    <dgm:pt modelId="{4421E921-BC00-447E-B345-170A5DECE8BF}">
      <dgm:prSet phldrT="[Κείμενο]" phldr="0"/>
      <dgm:spPr/>
      <dgm:t>
        <a:bodyPr/>
        <a:lstStyle/>
        <a:p>
          <a:r>
            <a:rPr lang="en-US" dirty="0"/>
            <a:t>GPU runs &amp; Analysis</a:t>
          </a:r>
          <a:br>
            <a:rPr lang="en-US" dirty="0"/>
          </a:br>
          <a:br>
            <a:rPr lang="en-US" dirty="0"/>
          </a:br>
          <a:r>
            <a:rPr lang="en-US" dirty="0"/>
            <a:t>Task[3,4]</a:t>
          </a:r>
          <a:endParaRPr lang="en-GB" dirty="0"/>
        </a:p>
      </dgm:t>
    </dgm:pt>
    <dgm:pt modelId="{6878A2CC-B511-4A2E-BD55-95542F8B98FD}" type="parTrans" cxnId="{ECA2ACD3-1318-4F4B-8F4D-1ECA4F7F1227}">
      <dgm:prSet/>
      <dgm:spPr/>
      <dgm:t>
        <a:bodyPr/>
        <a:lstStyle/>
        <a:p>
          <a:endParaRPr lang="en-GB"/>
        </a:p>
      </dgm:t>
    </dgm:pt>
    <dgm:pt modelId="{5D524889-A7C6-44D3-A91E-CB479FFA8B1A}" type="sibTrans" cxnId="{ECA2ACD3-1318-4F4B-8F4D-1ECA4F7F1227}">
      <dgm:prSet phldrT="3" phldr="0"/>
      <dgm:spPr/>
      <dgm:t>
        <a:bodyPr/>
        <a:lstStyle/>
        <a:p>
          <a:r>
            <a:t>3</a:t>
          </a:r>
        </a:p>
      </dgm:t>
    </dgm:pt>
    <dgm:pt modelId="{F6C4C0F9-D5E4-49CD-AAE0-993CC80BEABA}" type="pres">
      <dgm:prSet presAssocID="{F4DB3FC0-A31D-4B7A-8F46-A8F9A2A3C1C6}" presName="Name0" presStyleCnt="0">
        <dgm:presLayoutVars>
          <dgm:dir/>
          <dgm:animLvl val="lvl"/>
          <dgm:resizeHandles val="exact"/>
        </dgm:presLayoutVars>
      </dgm:prSet>
      <dgm:spPr/>
    </dgm:pt>
    <dgm:pt modelId="{149F54D8-2920-4AD3-A666-65B2362BAA37}" type="pres">
      <dgm:prSet presAssocID="{079F7AC2-C1D9-4F7F-9A13-6E32B58EA61F}" presName="compositeNode" presStyleCnt="0">
        <dgm:presLayoutVars>
          <dgm:bulletEnabled val="1"/>
        </dgm:presLayoutVars>
      </dgm:prSet>
      <dgm:spPr/>
    </dgm:pt>
    <dgm:pt modelId="{F3F5912F-D38E-4A48-AB1A-3B86F6674367}" type="pres">
      <dgm:prSet presAssocID="{079F7AC2-C1D9-4F7F-9A13-6E32B58EA61F}" presName="bgRect" presStyleLbl="fgAcc1" presStyleIdx="0" presStyleCnt="3"/>
      <dgm:spPr/>
    </dgm:pt>
    <dgm:pt modelId="{810C6615-5E92-429C-AFB9-365A307A94A1}" type="pres">
      <dgm:prSet presAssocID="{FFDDB3AF-D48A-45D4-9B56-C78BA1F8B808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BC7D6B12-3AE7-4BAD-A4E8-900C25BA0C06}" type="pres">
      <dgm:prSet presAssocID="{079F7AC2-C1D9-4F7F-9A13-6E32B58EA61F}" presName="nodeText" presStyleLbl="bgAccFollowNode1" presStyleIdx="0" presStyleCnt="0">
        <dgm:presLayoutVars>
          <dgm:bulletEnabled val="1"/>
        </dgm:presLayoutVars>
      </dgm:prSet>
      <dgm:spPr/>
    </dgm:pt>
    <dgm:pt modelId="{0B0AE777-8FF0-4CC8-97CB-76A96C09B859}" type="pres">
      <dgm:prSet presAssocID="{FFDDB3AF-D48A-45D4-9B56-C78BA1F8B808}" presName="sibTrans" presStyleCnt="0"/>
      <dgm:spPr/>
    </dgm:pt>
    <dgm:pt modelId="{534F7664-EA3D-439D-8809-ECD15EB68066}" type="pres">
      <dgm:prSet presAssocID="{8851AAE5-C45E-4075-8BCF-CD2EA10CE2BD}" presName="compositeNode" presStyleCnt="0">
        <dgm:presLayoutVars>
          <dgm:bulletEnabled val="1"/>
        </dgm:presLayoutVars>
      </dgm:prSet>
      <dgm:spPr/>
    </dgm:pt>
    <dgm:pt modelId="{D74B1442-F5E5-4C30-872F-6CE3A46B17C3}" type="pres">
      <dgm:prSet presAssocID="{8851AAE5-C45E-4075-8BCF-CD2EA10CE2BD}" presName="bgRect" presStyleLbl="fgAcc1" presStyleIdx="1" presStyleCnt="3" custLinFactNeighborX="0"/>
      <dgm:spPr/>
    </dgm:pt>
    <dgm:pt modelId="{CA05EC4E-0C18-4FDC-B4A8-93FAB56A98E8}" type="pres">
      <dgm:prSet presAssocID="{4157DE7F-BD49-4199-A0CA-D65B13695BE3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E9BC78D6-211D-4CB2-AD91-653620550861}" type="pres">
      <dgm:prSet presAssocID="{8851AAE5-C45E-4075-8BCF-CD2EA10CE2BD}" presName="nodeText" presStyleLbl="bgAccFollowNode1" presStyleIdx="0" presStyleCnt="0">
        <dgm:presLayoutVars>
          <dgm:bulletEnabled val="1"/>
        </dgm:presLayoutVars>
      </dgm:prSet>
      <dgm:spPr/>
    </dgm:pt>
    <dgm:pt modelId="{DD476C5E-9C0C-46FF-875C-D9267A189667}" type="pres">
      <dgm:prSet presAssocID="{4157DE7F-BD49-4199-A0CA-D65B13695BE3}" presName="sibTrans" presStyleCnt="0"/>
      <dgm:spPr/>
    </dgm:pt>
    <dgm:pt modelId="{DFC284E2-27EC-4E52-90F5-E94F0A2A49D6}" type="pres">
      <dgm:prSet presAssocID="{4421E921-BC00-447E-B345-170A5DECE8BF}" presName="compositeNode" presStyleCnt="0">
        <dgm:presLayoutVars>
          <dgm:bulletEnabled val="1"/>
        </dgm:presLayoutVars>
      </dgm:prSet>
      <dgm:spPr/>
    </dgm:pt>
    <dgm:pt modelId="{CAF208BB-6FEF-4461-B389-19490A5F4D57}" type="pres">
      <dgm:prSet presAssocID="{4421E921-BC00-447E-B345-170A5DECE8BF}" presName="bgRect" presStyleLbl="fgAcc1" presStyleIdx="2" presStyleCnt="3"/>
      <dgm:spPr/>
    </dgm:pt>
    <dgm:pt modelId="{D39634DE-5737-420C-8207-D0B2AD3A579E}" type="pres">
      <dgm:prSet presAssocID="{5D524889-A7C6-44D3-A91E-CB479FFA8B1A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48675D36-3E56-461A-B7F7-F9D31CBB89BF}" type="pres">
      <dgm:prSet presAssocID="{4421E921-BC00-447E-B345-170A5DECE8BF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B3968D02-D473-4FE4-ADE8-2269359F975E}" type="presOf" srcId="{8851AAE5-C45E-4075-8BCF-CD2EA10CE2BD}" destId="{D74B1442-F5E5-4C30-872F-6CE3A46B17C3}" srcOrd="0" destOrd="0" presId="urn:microsoft.com/office/officeart/2024/layout/NumberedTitleList#1"/>
    <dgm:cxn modelId="{A6963805-693C-41C6-8677-1EA8ED894507}" type="presOf" srcId="{4421E921-BC00-447E-B345-170A5DECE8BF}" destId="{48675D36-3E56-461A-B7F7-F9D31CBB89BF}" srcOrd="1" destOrd="0" presId="urn:microsoft.com/office/officeart/2024/layout/NumberedTitleList#1"/>
    <dgm:cxn modelId="{2302C10F-B1F4-435F-8634-EF9A50C31E05}" type="presOf" srcId="{8851AAE5-C45E-4075-8BCF-CD2EA10CE2BD}" destId="{E9BC78D6-211D-4CB2-AD91-653620550861}" srcOrd="1" destOrd="0" presId="urn:microsoft.com/office/officeart/2024/layout/NumberedTitleList#1"/>
    <dgm:cxn modelId="{879E9619-F06A-41E5-B365-70D4E65FED5C}" type="presOf" srcId="{F4DB3FC0-A31D-4B7A-8F46-A8F9A2A3C1C6}" destId="{F6C4C0F9-D5E4-49CD-AAE0-993CC80BEABA}" srcOrd="0" destOrd="0" presId="urn:microsoft.com/office/officeart/2024/layout/NumberedTitleList#1"/>
    <dgm:cxn modelId="{8DEC9F34-DB54-43F0-8EA5-1E87D80952E9}" srcId="{F4DB3FC0-A31D-4B7A-8F46-A8F9A2A3C1C6}" destId="{079F7AC2-C1D9-4F7F-9A13-6E32B58EA61F}" srcOrd="0" destOrd="0" parTransId="{0FB22EA1-F2A0-469D-8B3A-67661130E200}" sibTransId="{FFDDB3AF-D48A-45D4-9B56-C78BA1F8B808}"/>
    <dgm:cxn modelId="{0F12F83B-8E92-4460-A2D1-B5E05CFC7C85}" type="presOf" srcId="{079F7AC2-C1D9-4F7F-9A13-6E32B58EA61F}" destId="{F3F5912F-D38E-4A48-AB1A-3B86F6674367}" srcOrd="0" destOrd="0" presId="urn:microsoft.com/office/officeart/2024/layout/NumberedTitleList#1"/>
    <dgm:cxn modelId="{D4AF0A4A-C0B0-4422-BA92-E0297A15293B}" type="presOf" srcId="{4157DE7F-BD49-4199-A0CA-D65B13695BE3}" destId="{CA05EC4E-0C18-4FDC-B4A8-93FAB56A98E8}" srcOrd="0" destOrd="0" presId="urn:microsoft.com/office/officeart/2024/layout/NumberedTitleList#1"/>
    <dgm:cxn modelId="{AB0C157E-3320-455A-B3D8-2491D82F206B}" type="presOf" srcId="{079F7AC2-C1D9-4F7F-9A13-6E32B58EA61F}" destId="{BC7D6B12-3AE7-4BAD-A4E8-900C25BA0C06}" srcOrd="1" destOrd="0" presId="urn:microsoft.com/office/officeart/2024/layout/NumberedTitleList#1"/>
    <dgm:cxn modelId="{EE8A4380-111C-4CDF-B124-C3E703BDC3AB}" type="presOf" srcId="{5D524889-A7C6-44D3-A91E-CB479FFA8B1A}" destId="{D39634DE-5737-420C-8207-D0B2AD3A579E}" srcOrd="0" destOrd="0" presId="urn:microsoft.com/office/officeart/2024/layout/NumberedTitleList#1"/>
    <dgm:cxn modelId="{A1955589-ECE6-4517-8D23-59F302B57056}" srcId="{F4DB3FC0-A31D-4B7A-8F46-A8F9A2A3C1C6}" destId="{8851AAE5-C45E-4075-8BCF-CD2EA10CE2BD}" srcOrd="1" destOrd="0" parTransId="{69D54B02-6218-4A31-A6FD-602BBAAAC2E3}" sibTransId="{4157DE7F-BD49-4199-A0CA-D65B13695BE3}"/>
    <dgm:cxn modelId="{11A188D3-4CC9-4C00-8EF1-6FA1EDC29D38}" type="presOf" srcId="{4421E921-BC00-447E-B345-170A5DECE8BF}" destId="{CAF208BB-6FEF-4461-B389-19490A5F4D57}" srcOrd="0" destOrd="0" presId="urn:microsoft.com/office/officeart/2024/layout/NumberedTitleList#1"/>
    <dgm:cxn modelId="{ECA2ACD3-1318-4F4B-8F4D-1ECA4F7F1227}" srcId="{F4DB3FC0-A31D-4B7A-8F46-A8F9A2A3C1C6}" destId="{4421E921-BC00-447E-B345-170A5DECE8BF}" srcOrd="2" destOrd="0" parTransId="{6878A2CC-B511-4A2E-BD55-95542F8B98FD}" sibTransId="{5D524889-A7C6-44D3-A91E-CB479FFA8B1A}"/>
    <dgm:cxn modelId="{D0EF2FDA-797A-4E90-A169-B0088AFCDBD7}" type="presOf" srcId="{FFDDB3AF-D48A-45D4-9B56-C78BA1F8B808}" destId="{810C6615-5E92-429C-AFB9-365A307A94A1}" srcOrd="0" destOrd="0" presId="urn:microsoft.com/office/officeart/2024/layout/NumberedTitleList#1"/>
    <dgm:cxn modelId="{70403E8F-D878-4B95-8710-DB95F9E2F2F7}" type="presParOf" srcId="{F6C4C0F9-D5E4-49CD-AAE0-993CC80BEABA}" destId="{149F54D8-2920-4AD3-A666-65B2362BAA37}" srcOrd="0" destOrd="0" presId="urn:microsoft.com/office/officeart/2024/layout/NumberedTitleList#1"/>
    <dgm:cxn modelId="{F3F45429-4DD9-4A47-8810-F4A308AC5BB0}" type="presParOf" srcId="{149F54D8-2920-4AD3-A666-65B2362BAA37}" destId="{F3F5912F-D38E-4A48-AB1A-3B86F6674367}" srcOrd="0" destOrd="0" presId="urn:microsoft.com/office/officeart/2024/layout/NumberedTitleList#1"/>
    <dgm:cxn modelId="{24D3A33F-786B-452A-A800-D5B898ECB7B5}" type="presParOf" srcId="{149F54D8-2920-4AD3-A666-65B2362BAA37}" destId="{810C6615-5E92-429C-AFB9-365A307A94A1}" srcOrd="1" destOrd="0" presId="urn:microsoft.com/office/officeart/2024/layout/NumberedTitleList#1"/>
    <dgm:cxn modelId="{209525DE-3F5B-4E17-9618-7DCD1137C206}" type="presParOf" srcId="{149F54D8-2920-4AD3-A666-65B2362BAA37}" destId="{BC7D6B12-3AE7-4BAD-A4E8-900C25BA0C06}" srcOrd="2" destOrd="0" presId="urn:microsoft.com/office/officeart/2024/layout/NumberedTitleList#1"/>
    <dgm:cxn modelId="{D82B631A-F1EC-4067-9BDA-247BD1CD6C10}" type="presParOf" srcId="{F6C4C0F9-D5E4-49CD-AAE0-993CC80BEABA}" destId="{0B0AE777-8FF0-4CC8-97CB-76A96C09B859}" srcOrd="1" destOrd="0" presId="urn:microsoft.com/office/officeart/2024/layout/NumberedTitleList#1"/>
    <dgm:cxn modelId="{C4DF8D24-A84D-4B75-97CA-C13239A143CE}" type="presParOf" srcId="{F6C4C0F9-D5E4-49CD-AAE0-993CC80BEABA}" destId="{534F7664-EA3D-439D-8809-ECD15EB68066}" srcOrd="2" destOrd="0" presId="urn:microsoft.com/office/officeart/2024/layout/NumberedTitleList#1"/>
    <dgm:cxn modelId="{7FF7F927-E7D1-4E5B-BE28-FFB7CAA2A345}" type="presParOf" srcId="{534F7664-EA3D-439D-8809-ECD15EB68066}" destId="{D74B1442-F5E5-4C30-872F-6CE3A46B17C3}" srcOrd="0" destOrd="0" presId="urn:microsoft.com/office/officeart/2024/layout/NumberedTitleList#1"/>
    <dgm:cxn modelId="{55E2DE4F-BBDF-46B3-AD74-3E972E191C01}" type="presParOf" srcId="{534F7664-EA3D-439D-8809-ECD15EB68066}" destId="{CA05EC4E-0C18-4FDC-B4A8-93FAB56A98E8}" srcOrd="1" destOrd="0" presId="urn:microsoft.com/office/officeart/2024/layout/NumberedTitleList#1"/>
    <dgm:cxn modelId="{24A20029-0050-4411-99BD-3831EABA27AA}" type="presParOf" srcId="{534F7664-EA3D-439D-8809-ECD15EB68066}" destId="{E9BC78D6-211D-4CB2-AD91-653620550861}" srcOrd="2" destOrd="0" presId="urn:microsoft.com/office/officeart/2024/layout/NumberedTitleList#1"/>
    <dgm:cxn modelId="{DD679554-8045-4FDB-9995-369E343D8AA7}" type="presParOf" srcId="{F6C4C0F9-D5E4-49CD-AAE0-993CC80BEABA}" destId="{DD476C5E-9C0C-46FF-875C-D9267A189667}" srcOrd="3" destOrd="0" presId="urn:microsoft.com/office/officeart/2024/layout/NumberedTitleList#1"/>
    <dgm:cxn modelId="{6858B244-1AAA-47F8-A0E5-4FF1B6A6A8F6}" type="presParOf" srcId="{F6C4C0F9-D5E4-49CD-AAE0-993CC80BEABA}" destId="{DFC284E2-27EC-4E52-90F5-E94F0A2A49D6}" srcOrd="4" destOrd="0" presId="urn:microsoft.com/office/officeart/2024/layout/NumberedTitleList#1"/>
    <dgm:cxn modelId="{6F4E2D25-C910-463A-8E16-6ED6CF6D0FA1}" type="presParOf" srcId="{DFC284E2-27EC-4E52-90F5-E94F0A2A49D6}" destId="{CAF208BB-6FEF-4461-B389-19490A5F4D57}" srcOrd="0" destOrd="0" presId="urn:microsoft.com/office/officeart/2024/layout/NumberedTitleList#1"/>
    <dgm:cxn modelId="{908E8F7A-C275-4D3E-8A73-A1DFDA5E0BB3}" type="presParOf" srcId="{DFC284E2-27EC-4E52-90F5-E94F0A2A49D6}" destId="{D39634DE-5737-420C-8207-D0B2AD3A579E}" srcOrd="1" destOrd="0" presId="urn:microsoft.com/office/officeart/2024/layout/NumberedTitleList#1"/>
    <dgm:cxn modelId="{407B49E9-7F08-401C-A63F-D8F69D557A3D}" type="presParOf" srcId="{DFC284E2-27EC-4E52-90F5-E94F0A2A49D6}" destId="{48675D36-3E56-461A-B7F7-F9D31CBB89BF}" srcOrd="2" destOrd="0" presId="urn:microsoft.com/office/officeart/2024/layout/NumberedTitle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STRONG SCALING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WEAK SCALING</a:t>
          </a: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2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2"/>
      <dgm:spPr/>
    </dgm:pt>
    <dgm:pt modelId="{429CABD1-4116-474B-81BF-735E2CA9DD00}" type="pres">
      <dgm:prSet presAssocID="{7E5AA53B-3EEE-4DE4-BB81-9044890C2946}" presName="dstNode" presStyleLbl="node1" presStyleIdx="0" presStyleCnt="2"/>
      <dgm:spPr/>
    </dgm:pt>
    <dgm:pt modelId="{58319267-C71E-43C9-94E1-827D0616C7A7}" type="pres">
      <dgm:prSet presAssocID="{6750AC01-D39D-4F3A-9DC8-2A211EE986A2}" presName="text_1" presStyleLbl="node1" presStyleIdx="0" presStyleCnt="2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2"/>
      <dgm:spPr/>
    </dgm:pt>
    <dgm:pt modelId="{95DE6538-27BD-44AF-A1A8-CA8F6B10FDD2}" type="pres">
      <dgm:prSet presAssocID="{0BEF68B8-1228-47BB-83B5-7B9CD1E3F84E}" presName="text_2" presStyleLbl="node1" presStyleIdx="1" presStyleCnt="2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2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437238" y="776247"/>
          <a:ext cx="1680455" cy="1680455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92899" y="2464957"/>
          <a:ext cx="23691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 dirty="0"/>
            <a:t>Serial</a:t>
          </a:r>
        </a:p>
      </dsp:txBody>
      <dsp:txXfrm>
        <a:off x="92899" y="2464957"/>
        <a:ext cx="2369132" cy="720000"/>
      </dsp:txXfrm>
    </dsp:sp>
    <dsp:sp modelId="{CE9DF0E8-B0DE-4E1E-9FF4-6006AD8428DB}">
      <dsp:nvSpPr>
        <dsp:cNvPr id="0" name=""/>
        <dsp:cNvSpPr/>
      </dsp:nvSpPr>
      <dsp:spPr>
        <a:xfrm>
          <a:off x="3220969" y="776247"/>
          <a:ext cx="1680455" cy="168045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41000" r="-41000"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2876630" y="2464957"/>
          <a:ext cx="23691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 dirty="0"/>
            <a:t>OpenMP</a:t>
          </a:r>
        </a:p>
      </dsp:txBody>
      <dsp:txXfrm>
        <a:off x="2876630" y="2464957"/>
        <a:ext cx="2369132" cy="720000"/>
      </dsp:txXfrm>
    </dsp:sp>
    <dsp:sp modelId="{6DB1FE51-13D0-4A38-AD6E-48D4371A1AF3}">
      <dsp:nvSpPr>
        <dsp:cNvPr id="0" name=""/>
        <dsp:cNvSpPr/>
      </dsp:nvSpPr>
      <dsp:spPr>
        <a:xfrm>
          <a:off x="6004700" y="776247"/>
          <a:ext cx="1680455" cy="168045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l="-32000" r="-32000"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5660361" y="2464957"/>
          <a:ext cx="23691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 dirty="0"/>
            <a:t>MPI</a:t>
          </a:r>
        </a:p>
      </dsp:txBody>
      <dsp:txXfrm>
        <a:off x="5660361" y="2464957"/>
        <a:ext cx="2369132" cy="720000"/>
      </dsp:txXfrm>
    </dsp:sp>
    <dsp:sp modelId="{EF7AE7A6-6A17-4536-A488-B7D89012D59D}">
      <dsp:nvSpPr>
        <dsp:cNvPr id="0" name=""/>
        <dsp:cNvSpPr/>
      </dsp:nvSpPr>
      <dsp:spPr>
        <a:xfrm>
          <a:off x="8803953" y="783140"/>
          <a:ext cx="1681201" cy="168120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885667-7FDA-4753-94EF-3FB152BBD288}">
      <dsp:nvSpPr>
        <dsp:cNvPr id="0" name=""/>
        <dsp:cNvSpPr/>
      </dsp:nvSpPr>
      <dsp:spPr>
        <a:xfrm>
          <a:off x="8444092" y="2465143"/>
          <a:ext cx="23691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 dirty="0"/>
            <a:t>CUDA</a:t>
          </a:r>
        </a:p>
      </dsp:txBody>
      <dsp:txXfrm>
        <a:off x="8444092" y="2465143"/>
        <a:ext cx="236913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5912F-D38E-4A48-AB1A-3B86F6674367}">
      <dsp:nvSpPr>
        <dsp:cNvPr id="0" name=""/>
        <dsp:cNvSpPr/>
      </dsp:nvSpPr>
      <dsp:spPr>
        <a:xfrm>
          <a:off x="0" y="0"/>
          <a:ext cx="3446859" cy="36782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96" tIns="330200" rIns="182396" bIns="3302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Code Structure</a:t>
          </a:r>
          <a:br>
            <a:rPr lang="en-US" sz="2900" kern="1200" dirty="0"/>
          </a:br>
          <a:br>
            <a:rPr lang="en-US" sz="2900" kern="1200" dirty="0"/>
          </a:br>
          <a:r>
            <a:rPr lang="en-US" sz="2900" kern="1200" dirty="0"/>
            <a:t>Task[0,1,2]</a:t>
          </a:r>
          <a:endParaRPr lang="en-GB" sz="2900" kern="1200" dirty="0"/>
        </a:p>
      </dsp:txBody>
      <dsp:txXfrm>
        <a:off x="0" y="1765554"/>
        <a:ext cx="3446859" cy="1912683"/>
      </dsp:txXfrm>
    </dsp:sp>
    <dsp:sp modelId="{810C6615-5E92-429C-AFB9-365A307A94A1}">
      <dsp:nvSpPr>
        <dsp:cNvPr id="0" name=""/>
        <dsp:cNvSpPr/>
      </dsp:nvSpPr>
      <dsp:spPr>
        <a:xfrm>
          <a:off x="987782" y="275867"/>
          <a:ext cx="1471295" cy="14712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856" tIns="12700" rIns="7785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1</a:t>
          </a:r>
          <a:endParaRPr sz="4800" kern="1200" dirty="0"/>
        </a:p>
      </dsp:txBody>
      <dsp:txXfrm>
        <a:off x="1203248" y="491333"/>
        <a:ext cx="1040363" cy="1040363"/>
      </dsp:txXfrm>
    </dsp:sp>
    <dsp:sp modelId="{D74B1442-F5E5-4C30-872F-6CE3A46B17C3}">
      <dsp:nvSpPr>
        <dsp:cNvPr id="0" name=""/>
        <dsp:cNvSpPr/>
      </dsp:nvSpPr>
      <dsp:spPr>
        <a:xfrm>
          <a:off x="3791545" y="0"/>
          <a:ext cx="3446859" cy="36782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96" tIns="330200" rIns="182396" bIns="3302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Code Optimization</a:t>
          </a:r>
          <a:br>
            <a:rPr lang="en-US" sz="2900" kern="1200" dirty="0"/>
          </a:br>
          <a:br>
            <a:rPr lang="en-US" sz="2900" kern="1200" dirty="0"/>
          </a:br>
          <a:r>
            <a:rPr lang="en-US" sz="2900" kern="1200" dirty="0"/>
            <a:t>Task[0,1,2]</a:t>
          </a:r>
          <a:endParaRPr lang="en-GB" sz="2900" kern="1200" dirty="0"/>
        </a:p>
      </dsp:txBody>
      <dsp:txXfrm>
        <a:off x="3791545" y="1765554"/>
        <a:ext cx="3446859" cy="1912683"/>
      </dsp:txXfrm>
    </dsp:sp>
    <dsp:sp modelId="{CA05EC4E-0C18-4FDC-B4A8-93FAB56A98E8}">
      <dsp:nvSpPr>
        <dsp:cNvPr id="0" name=""/>
        <dsp:cNvSpPr/>
      </dsp:nvSpPr>
      <dsp:spPr>
        <a:xfrm>
          <a:off x="4779327" y="275867"/>
          <a:ext cx="1471295" cy="14712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856" tIns="12700" rIns="7785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2</a:t>
          </a:r>
          <a:endParaRPr sz="4800" kern="1200" dirty="0"/>
        </a:p>
      </dsp:txBody>
      <dsp:txXfrm>
        <a:off x="4994793" y="491333"/>
        <a:ext cx="1040363" cy="1040363"/>
      </dsp:txXfrm>
    </dsp:sp>
    <dsp:sp modelId="{CAF208BB-6FEF-4461-B389-19490A5F4D57}">
      <dsp:nvSpPr>
        <dsp:cNvPr id="0" name=""/>
        <dsp:cNvSpPr/>
      </dsp:nvSpPr>
      <dsp:spPr>
        <a:xfrm>
          <a:off x="7583090" y="0"/>
          <a:ext cx="3446859" cy="36782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96" tIns="330200" rIns="182396" bIns="3302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GPU runs &amp; Analysis</a:t>
          </a:r>
          <a:br>
            <a:rPr lang="en-US" sz="2900" kern="1200" dirty="0"/>
          </a:br>
          <a:br>
            <a:rPr lang="en-US" sz="2900" kern="1200" dirty="0"/>
          </a:br>
          <a:r>
            <a:rPr lang="en-US" sz="2900" kern="1200" dirty="0"/>
            <a:t>Task[3,4]</a:t>
          </a:r>
          <a:endParaRPr lang="en-GB" sz="2900" kern="1200" dirty="0"/>
        </a:p>
      </dsp:txBody>
      <dsp:txXfrm>
        <a:off x="7583090" y="1765554"/>
        <a:ext cx="3446859" cy="1912683"/>
      </dsp:txXfrm>
    </dsp:sp>
    <dsp:sp modelId="{D39634DE-5737-420C-8207-D0B2AD3A579E}">
      <dsp:nvSpPr>
        <dsp:cNvPr id="0" name=""/>
        <dsp:cNvSpPr/>
      </dsp:nvSpPr>
      <dsp:spPr>
        <a:xfrm>
          <a:off x="8570872" y="275867"/>
          <a:ext cx="1471295" cy="14712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856" tIns="12700" rIns="7785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3</a:t>
          </a:r>
        </a:p>
      </dsp:txBody>
      <dsp:txXfrm>
        <a:off x="8786338" y="491333"/>
        <a:ext cx="1040363" cy="1040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00085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655140" y="509144"/>
          <a:ext cx="6180307" cy="101814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8153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noProof="0" dirty="0"/>
            <a:t>STRONG SCALING	</a:t>
          </a:r>
        </a:p>
      </dsp:txBody>
      <dsp:txXfrm>
        <a:off x="655140" y="509144"/>
        <a:ext cx="6180307" cy="1018145"/>
      </dsp:txXfrm>
    </dsp:sp>
    <dsp:sp modelId="{07CB3071-D555-47DA-A36A-69EB91531FD8}">
      <dsp:nvSpPr>
        <dsp:cNvPr id="0" name=""/>
        <dsp:cNvSpPr/>
      </dsp:nvSpPr>
      <dsp:spPr>
        <a:xfrm>
          <a:off x="18799" y="381875"/>
          <a:ext cx="1272682" cy="12726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655140" y="2036648"/>
          <a:ext cx="6180307" cy="101814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8153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noProof="0" dirty="0"/>
            <a:t>WEAK SCALING</a:t>
          </a:r>
        </a:p>
      </dsp:txBody>
      <dsp:txXfrm>
        <a:off x="655140" y="2036648"/>
        <a:ext cx="6180307" cy="1018145"/>
      </dsp:txXfrm>
    </dsp:sp>
    <dsp:sp modelId="{3F8116AC-FAC3-4E95-9865-93CCFEB191B9}">
      <dsp:nvSpPr>
        <dsp:cNvPr id="0" name=""/>
        <dsp:cNvSpPr/>
      </dsp:nvSpPr>
      <dsp:spPr>
        <a:xfrm>
          <a:off x="18799" y="1909379"/>
          <a:ext cx="1272682" cy="12726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TitleList#1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4B407AB5-8188-4953-8FDD-97E05F755B54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3D7A72F7-B4B8-4C0C-A847-1120810E72A6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997119EC-4C99-41BB-8F09-0C8302BE6C6E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GOAL: implement a matrix-matrix multiplication using </a:t>
            </a:r>
            <a:r>
              <a:rPr lang="en-US" sz="1200" b="0" i="0" u="none" strike="noStrike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parallelization paradigms. We look at shared-memory systems with OpenMP. Distributed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 system with MPI. And accelerator (GPU) systems with CUDA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 Scaling</a:t>
            </a:r>
            <a:r>
              <a:rPr lang="en-US" dirty="0">
                <a:sym typeface="Wingdings" panose="05000000000000000000" pitchFamily="2" charset="2"/>
              </a:rPr>
              <a:t> work per processor remains constant .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For matrix multiplication: </a:t>
            </a:r>
            <a:r>
              <a:rPr lang="en-GB" dirty="0"/>
              <a:t>Work∝N</a:t>
            </a:r>
            <a:r>
              <a:rPr lang="en-GB" baseline="30000" dirty="0"/>
              <a:t>3</a:t>
            </a:r>
          </a:p>
          <a:p>
            <a:r>
              <a:rPr lang="en-US" dirty="0"/>
              <a:t>If you double processors, matrix size should increase by:N∝P</a:t>
            </a:r>
            <a:r>
              <a:rPr lang="en-US" baseline="30000" dirty="0"/>
              <a:t>1/3</a:t>
            </a:r>
            <a:br>
              <a:rPr lang="en-GB" baseline="30000" dirty="0"/>
            </a:br>
            <a:endParaRPr lang="en-GB" baseline="30000" dirty="0"/>
          </a:p>
          <a:p>
            <a:endParaRPr lang="en-GB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59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Strong-Scaling for Cuda means : instead of a fixed N</a:t>
            </a:r>
            <a:br>
              <a:rPr lang="en-US" dirty="0"/>
            </a:br>
            <a:r>
              <a:rPr lang="en-US" dirty="0"/>
              <a:t>we have a fixed launch configuration :</a:t>
            </a:r>
          </a:p>
          <a:p>
            <a:r>
              <a:rPr lang="en-US" dirty="0"/>
              <a:t>We have to vary N =&gt; 1024,2048,4096,6144</a:t>
            </a:r>
          </a:p>
          <a:p>
            <a:r>
              <a:rPr lang="en-US" dirty="0"/>
              <a:t>Weak-Scaling</a:t>
            </a:r>
            <a:endParaRPr lang="en-GB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0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2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Parallel_Programming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MPI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o.jp/2016/05/nvidia-docker-tensorflow.html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Parallel_Programming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MPI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uo.jp/2016/05/nvidia-docker-tensorflow.htm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08CD1784-AB26-CE16-0F02-D421484F1B38}"/>
              </a:ext>
            </a:extLst>
          </p:cNvPr>
          <p:cNvSpPr/>
          <p:nvPr/>
        </p:nvSpPr>
        <p:spPr>
          <a:xfrm>
            <a:off x="446534" y="3630168"/>
            <a:ext cx="11260666" cy="115214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3633725"/>
            <a:ext cx="10993549" cy="1833519"/>
          </a:xfrm>
        </p:spPr>
        <p:txBody>
          <a:bodyPr>
            <a:noAutofit/>
          </a:bodyPr>
          <a:lstStyle/>
          <a:p>
            <a:r>
              <a:rPr lang="en-US" sz="5400" noProof="0" dirty="0">
                <a:solidFill>
                  <a:schemeClr val="bg1"/>
                </a:solidFill>
              </a:rPr>
              <a:t>DM8100 – high Performance computing | </a:t>
            </a:r>
            <a:r>
              <a:rPr lang="en-US" sz="5400" b="1" noProof="0" dirty="0">
                <a:solidFill>
                  <a:schemeClr val="bg1"/>
                </a:solidFill>
              </a:rPr>
              <a:t>EXAM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7CEBFF"/>
                </a:solidFill>
              </a:rPr>
              <a:t>MATHIAS </a:t>
            </a:r>
            <a:r>
              <a:rPr lang="en-US" dirty="0">
                <a:solidFill>
                  <a:srgbClr val="7CEBFF"/>
                </a:solidFill>
              </a:rPr>
              <a:t>PIERRON</a:t>
            </a:r>
            <a:r>
              <a:rPr lang="en-US" noProof="0" dirty="0">
                <a:solidFill>
                  <a:srgbClr val="7CEBFF"/>
                </a:solidFill>
              </a:rPr>
              <a:t>,  ANTIGONI KARAGIANNAKI,  AMANCIO FFELIPE ZANI DA SILVA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BCDE00-27A5-A65E-2E6B-2A0DABB87389}"/>
              </a:ext>
            </a:extLst>
          </p:cNvPr>
          <p:cNvSpPr txBox="1">
            <a:spLocks/>
          </p:cNvSpPr>
          <p:nvPr/>
        </p:nvSpPr>
        <p:spPr>
          <a:xfrm>
            <a:off x="581191" y="5776764"/>
            <a:ext cx="4679654" cy="3862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SDU,  spring 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9B9FA7-752B-F653-168A-48B32118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Problem overview</a:t>
            </a:r>
            <a:endParaRPr lang="en-GB" sz="360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CA1575B-88F7-5673-7399-9BB5D4011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819471"/>
          </a:xfrm>
        </p:spPr>
        <p:txBody>
          <a:bodyPr>
            <a:noAutofit/>
          </a:bodyPr>
          <a:lstStyle/>
          <a:p>
            <a:r>
              <a:rPr lang="en-US" sz="2000" b="1" dirty="0"/>
              <a:t>Matrix-Matrix Multiplication C = A x B</a:t>
            </a:r>
          </a:p>
          <a:p>
            <a:r>
              <a:rPr lang="en-US" sz="2000" dirty="0"/>
              <a:t>Computational complexity: 𝑂(𝑁</a:t>
            </a:r>
            <a:r>
              <a:rPr lang="en-US" sz="2000" baseline="30000" dirty="0"/>
              <a:t>3</a:t>
            </a:r>
            <a:r>
              <a:rPr lang="en-US" sz="2000" dirty="0"/>
              <a:t>)</a:t>
            </a:r>
          </a:p>
          <a:p>
            <a:r>
              <a:rPr lang="en-US" sz="2000" u="sng" dirty="0">
                <a:solidFill>
                  <a:srgbClr val="FF0000"/>
                </a:solidFill>
              </a:rPr>
              <a:t>Goal: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Compare scaling across different parallel paradigms</a:t>
            </a:r>
          </a:p>
          <a:p>
            <a:r>
              <a:rPr lang="en-US" sz="2000" dirty="0"/>
              <a:t>Implementations tested: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i="1" dirty="0"/>
              <a:t>Serial</a:t>
            </a:r>
            <a:r>
              <a:rPr lang="en-US" sz="2000" dirty="0"/>
              <a:t> (baseline)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i="1" dirty="0"/>
              <a:t>OpenMP</a:t>
            </a:r>
            <a:r>
              <a:rPr lang="en-US" sz="2000" dirty="0"/>
              <a:t> (shared memory)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i="1" dirty="0"/>
              <a:t>MPI</a:t>
            </a:r>
            <a:r>
              <a:rPr lang="en-US" sz="2000" dirty="0"/>
              <a:t> (distributed memory)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i="1" dirty="0"/>
              <a:t>CUDA</a:t>
            </a:r>
            <a:r>
              <a:rPr lang="en-US" sz="2000" dirty="0"/>
              <a:t> (GPU acceleration)</a:t>
            </a:r>
            <a:endParaRPr lang="en-GB" sz="2000" dirty="0"/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25FDA226-4465-B7CB-03E0-1567D9F72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395" y="3872213"/>
            <a:ext cx="5341412" cy="1908217"/>
          </a:xfrm>
          <a:prstGeom prst="rect">
            <a:avLst/>
          </a:prstGeom>
        </p:spPr>
      </p:pic>
      <p:pic>
        <p:nvPicPr>
          <p:cNvPr id="1030" name="Picture 6" descr="Parallel Processing Icons - Free Download in SVG, PNG">
            <a:extLst>
              <a:ext uri="{FF2B5EF4-FFF2-40B4-BE49-F238E27FC236}">
                <a16:creationId xmlns:a16="http://schemas.microsoft.com/office/drawing/2014/main" id="{B819FC2E-6F4B-02B7-C745-DF00D13F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643" y="4826321"/>
            <a:ext cx="715443" cy="71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ream Processing, Data Streaming Glyph Solid Icon 55601661 Vector Art at  Vecteezy">
            <a:extLst>
              <a:ext uri="{FF2B5EF4-FFF2-40B4-BE49-F238E27FC236}">
                <a16:creationId xmlns:a16="http://schemas.microsoft.com/office/drawing/2014/main" id="{DE9B4A76-30B0-55BB-DDAD-EA7B2BBD59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90"/>
          <a:stretch>
            <a:fillRect/>
          </a:stretch>
        </p:blipFill>
        <p:spPr bwMode="auto">
          <a:xfrm>
            <a:off x="3097757" y="4202965"/>
            <a:ext cx="789294" cy="39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933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82B1AF8-4CF2-905C-A38C-64EF00AC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Experimental setup</a:t>
            </a:r>
            <a:endParaRPr lang="en-GB" dirty="0"/>
          </a:p>
        </p:txBody>
      </p:sp>
      <p:sp>
        <p:nvSpPr>
          <p:cNvPr id="4" name="Θέση περιεχομένου 2">
            <a:extLst>
              <a:ext uri="{FF2B5EF4-FFF2-40B4-BE49-F238E27FC236}">
                <a16:creationId xmlns:a16="http://schemas.microsoft.com/office/drawing/2014/main" id="{7007C122-AE9F-FA96-80CA-48A1DC4F1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705" y="2180497"/>
            <a:ext cx="3414624" cy="3819471"/>
          </a:xfrm>
        </p:spPr>
        <p:txBody>
          <a:bodyPr>
            <a:noAutofit/>
          </a:bodyPr>
          <a:lstStyle/>
          <a:p>
            <a:r>
              <a:rPr lang="en-US" sz="2000" dirty="0"/>
              <a:t>Matrix Sizes Used: </a:t>
            </a:r>
            <a:br>
              <a:rPr lang="en-US" sz="2000" dirty="0"/>
            </a:br>
            <a:r>
              <a:rPr lang="en-US" sz="2000" dirty="0"/>
              <a:t>[</a:t>
            </a:r>
            <a:r>
              <a:rPr lang="en-US" sz="2000" b="1" dirty="0"/>
              <a:t>1024</a:t>
            </a:r>
            <a:r>
              <a:rPr lang="en-US" sz="2000" dirty="0"/>
              <a:t>, </a:t>
            </a:r>
            <a:r>
              <a:rPr lang="en-US" sz="2000" b="1" dirty="0"/>
              <a:t>2048</a:t>
            </a:r>
            <a:r>
              <a:rPr lang="en-US" sz="2000" dirty="0"/>
              <a:t>, </a:t>
            </a:r>
            <a:r>
              <a:rPr lang="en-US" sz="2000" b="1" dirty="0"/>
              <a:t>4096</a:t>
            </a:r>
            <a:r>
              <a:rPr lang="en-US" sz="2000" dirty="0"/>
              <a:t>, </a:t>
            </a:r>
            <a:r>
              <a:rPr lang="en-US" sz="2000" b="1" dirty="0"/>
              <a:t>6144</a:t>
            </a:r>
            <a:r>
              <a:rPr lang="en-US" sz="2000" dirty="0"/>
              <a:t>]</a:t>
            </a:r>
          </a:p>
          <a:p>
            <a:r>
              <a:rPr lang="en-US" sz="2000" dirty="0"/>
              <a:t>Timing Methods:</a:t>
            </a:r>
            <a:br>
              <a:rPr lang="en-US" sz="2000" dirty="0"/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</a:rPr>
              <a:t>omp_get_wtime()</a:t>
            </a:r>
          </a:p>
          <a:p>
            <a:r>
              <a:rPr lang="en-US" sz="2000" dirty="0"/>
              <a:t>Validation Methods: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i="1" dirty="0"/>
              <a:t>Checksum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i="1" dirty="0"/>
              <a:t>Norm difference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i="1" dirty="0"/>
          </a:p>
        </p:txBody>
      </p:sp>
      <p:graphicFrame>
        <p:nvGraphicFramePr>
          <p:cNvPr id="7" name="Πίνακας 6">
            <a:extLst>
              <a:ext uri="{FF2B5EF4-FFF2-40B4-BE49-F238E27FC236}">
                <a16:creationId xmlns:a16="http://schemas.microsoft.com/office/drawing/2014/main" id="{96F2D5D9-7FD6-AE98-81DE-9FDC270F0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91308"/>
              </p:ext>
            </p:extLst>
          </p:nvPr>
        </p:nvGraphicFramePr>
        <p:xfrm>
          <a:off x="2905238" y="4422998"/>
          <a:ext cx="4503179" cy="1822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3179">
                  <a:extLst>
                    <a:ext uri="{9D8B030D-6E8A-4147-A177-3AD203B41FA5}">
                      <a16:colId xmlns:a16="http://schemas.microsoft.com/office/drawing/2014/main" val="2659991332"/>
                    </a:ext>
                  </a:extLst>
                </a:gridCol>
              </a:tblGrid>
              <a:tr h="371643">
                <a:tc>
                  <a:txBody>
                    <a:bodyPr/>
                    <a:lstStyle/>
                    <a:p>
                      <a:r>
                        <a:rPr lang="en-US" dirty="0"/>
                        <a:t>LOCALLY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692077"/>
                  </a:ext>
                </a:extLst>
              </a:tr>
              <a:tr h="428712">
                <a:tc>
                  <a:txBody>
                    <a:bodyPr/>
                    <a:lstStyle/>
                    <a:p>
                      <a:r>
                        <a:rPr lang="en-US" sz="1800" i="1" dirty="0"/>
                        <a:t>Intel(R) Core(TM) i7-10750H CPU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4910"/>
                  </a:ext>
                </a:extLst>
              </a:tr>
              <a:tr h="37164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RAM</a:t>
                      </a:r>
                      <a:r>
                        <a:rPr lang="el-GR" sz="1800" i="1" dirty="0"/>
                        <a:t>	</a:t>
                      </a:r>
                      <a:r>
                        <a:rPr lang="en-US" sz="1800" i="1" dirty="0"/>
                        <a:t>16</a:t>
                      </a:r>
                      <a:r>
                        <a:rPr lang="el-GR" sz="1800" i="1" dirty="0"/>
                        <a:t> </a:t>
                      </a:r>
                      <a:r>
                        <a:rPr lang="en-US" sz="1800" i="1" dirty="0"/>
                        <a:t>GB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351012"/>
                  </a:ext>
                </a:extLst>
              </a:tr>
              <a:tr h="65037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NVIDIA GeForce GTX 1650 (4 GB), Intel(R) UHD Graphics (128 MB)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194602"/>
                  </a:ext>
                </a:extLst>
              </a:tr>
            </a:tbl>
          </a:graphicData>
        </a:graphic>
      </p:graphicFrame>
      <p:sp>
        <p:nvSpPr>
          <p:cNvPr id="8" name="Θέση περιεχομένου 2">
            <a:extLst>
              <a:ext uri="{FF2B5EF4-FFF2-40B4-BE49-F238E27FC236}">
                <a16:creationId xmlns:a16="http://schemas.microsoft.com/office/drawing/2014/main" id="{0D98F39A-79AC-1CB3-3E09-B24B61CB6D34}"/>
              </a:ext>
            </a:extLst>
          </p:cNvPr>
          <p:cNvSpPr txBox="1">
            <a:spLocks/>
          </p:cNvSpPr>
          <p:nvPr/>
        </p:nvSpPr>
        <p:spPr>
          <a:xfrm>
            <a:off x="521527" y="2155445"/>
            <a:ext cx="4767422" cy="775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Hardware Specifications:</a:t>
            </a:r>
          </a:p>
        </p:txBody>
      </p:sp>
      <p:graphicFrame>
        <p:nvGraphicFramePr>
          <p:cNvPr id="9" name="Πίνακας 8">
            <a:extLst>
              <a:ext uri="{FF2B5EF4-FFF2-40B4-BE49-F238E27FC236}">
                <a16:creationId xmlns:a16="http://schemas.microsoft.com/office/drawing/2014/main" id="{C3E2FB49-D2FD-312B-EFE5-0C5113583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563870"/>
              </p:ext>
            </p:extLst>
          </p:nvPr>
        </p:nvGraphicFramePr>
        <p:xfrm>
          <a:off x="596683" y="2780778"/>
          <a:ext cx="3857679" cy="147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79">
                  <a:extLst>
                    <a:ext uri="{9D8B030D-6E8A-4147-A177-3AD203B41FA5}">
                      <a16:colId xmlns:a16="http://schemas.microsoft.com/office/drawing/2014/main" val="2659991332"/>
                    </a:ext>
                  </a:extLst>
                </a:gridCol>
              </a:tblGrid>
              <a:tr h="339570">
                <a:tc>
                  <a:txBody>
                    <a:bodyPr/>
                    <a:lstStyle/>
                    <a:p>
                      <a:r>
                        <a:rPr lang="en-US" dirty="0"/>
                        <a:t>UCLOUD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692077"/>
                  </a:ext>
                </a:extLst>
              </a:tr>
              <a:tr h="373930">
                <a:tc>
                  <a:txBody>
                    <a:bodyPr/>
                    <a:lstStyle/>
                    <a:p>
                      <a:r>
                        <a:rPr lang="en-US" sz="1800" i="1" dirty="0"/>
                        <a:t>vCPU 48,96 (AMD EPYC 9655)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4910"/>
                  </a:ext>
                </a:extLst>
              </a:tr>
              <a:tr h="33957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Memory</a:t>
                      </a:r>
                      <a:r>
                        <a:rPr lang="el-GR" sz="1800" i="1" dirty="0"/>
                        <a:t>	</a:t>
                      </a:r>
                      <a:r>
                        <a:rPr lang="en-US" sz="1800" i="1" dirty="0"/>
                        <a:t>288, 576</a:t>
                      </a:r>
                      <a:r>
                        <a:rPr lang="el-GR" sz="1800" i="1" dirty="0"/>
                        <a:t> </a:t>
                      </a:r>
                      <a:r>
                        <a:rPr lang="en-US" sz="1800" i="1" dirty="0"/>
                        <a:t>GB (DDR5-6400)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351012"/>
                  </a:ext>
                </a:extLst>
              </a:tr>
              <a:tr h="3739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1,2 NVIDIA B200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19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76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EFF"/>
                </a:solidFill>
              </a:rPr>
              <a:t>PARADIGMS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182262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583C7F-DF55-269A-E0C0-3F337194329E}"/>
              </a:ext>
            </a:extLst>
          </p:cNvPr>
          <p:cNvSpPr txBox="1"/>
          <p:nvPr/>
        </p:nvSpPr>
        <p:spPr>
          <a:xfrm>
            <a:off x="1282148" y="1103244"/>
            <a:ext cx="1391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TASK 0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E9E18-DF51-82B6-09B4-2902EE296AB3}"/>
              </a:ext>
            </a:extLst>
          </p:cNvPr>
          <p:cNvSpPr txBox="1"/>
          <p:nvPr/>
        </p:nvSpPr>
        <p:spPr>
          <a:xfrm>
            <a:off x="3998842" y="1103243"/>
            <a:ext cx="1391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TASK 1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47F71-6AB7-5DDE-5481-5046693AE3D6}"/>
              </a:ext>
            </a:extLst>
          </p:cNvPr>
          <p:cNvSpPr txBox="1"/>
          <p:nvPr/>
        </p:nvSpPr>
        <p:spPr>
          <a:xfrm>
            <a:off x="6801682" y="1103243"/>
            <a:ext cx="1391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TASK 2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DD7A9-AD2D-BA36-4F17-7A27CBD53393}"/>
              </a:ext>
            </a:extLst>
          </p:cNvPr>
          <p:cNvSpPr txBox="1"/>
          <p:nvPr/>
        </p:nvSpPr>
        <p:spPr>
          <a:xfrm>
            <a:off x="9597886" y="1103242"/>
            <a:ext cx="1391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TASK 3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AB9E58-CD49-FCB2-608D-AA7E19FF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split </a:t>
            </a:r>
            <a:endParaRPr lang="en-GB" dirty="0"/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1E136B96-7B76-89EE-426A-1CDEB1102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96741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Γραφικό 14" descr="Γυναικεία εργασία γραφείου περίγραμμα">
            <a:extLst>
              <a:ext uri="{FF2B5EF4-FFF2-40B4-BE49-F238E27FC236}">
                <a16:creationId xmlns:a16="http://schemas.microsoft.com/office/drawing/2014/main" id="{0CE5CA85-3492-5DBA-6599-BA45FA234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96408" y="2181225"/>
            <a:ext cx="914400" cy="914400"/>
          </a:xfrm>
          <a:prstGeom prst="rect">
            <a:avLst/>
          </a:prstGeom>
        </p:spPr>
      </p:pic>
      <p:pic>
        <p:nvPicPr>
          <p:cNvPr id="19" name="Γραφικό 18" descr="Άνδρας εργαζόμενος γραφείου περίγραμμα">
            <a:extLst>
              <a:ext uri="{FF2B5EF4-FFF2-40B4-BE49-F238E27FC236}">
                <a16:creationId xmlns:a16="http://schemas.microsoft.com/office/drawing/2014/main" id="{4F66FAD2-7AEE-0ED1-C3A4-109BB1ADA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0863" y="2187522"/>
            <a:ext cx="914400" cy="914400"/>
          </a:xfrm>
          <a:prstGeom prst="rect">
            <a:avLst/>
          </a:prstGeom>
        </p:spPr>
      </p:pic>
      <p:pic>
        <p:nvPicPr>
          <p:cNvPr id="21" name="Γραφικό 20" descr="Μαθητής περίγραμμα">
            <a:extLst>
              <a:ext uri="{FF2B5EF4-FFF2-40B4-BE49-F238E27FC236}">
                <a16:creationId xmlns:a16="http://schemas.microsoft.com/office/drawing/2014/main" id="{D361B682-E34C-B394-A34E-BBA89E15A9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272" y="2198375"/>
            <a:ext cx="914400" cy="914400"/>
          </a:xfrm>
          <a:prstGeom prst="rect">
            <a:avLst/>
          </a:prstGeom>
        </p:spPr>
      </p:pic>
      <p:pic>
        <p:nvPicPr>
          <p:cNvPr id="23" name="Γραφικό 22" descr="Χρήστης περίγραμμα">
            <a:extLst>
              <a:ext uri="{FF2B5EF4-FFF2-40B4-BE49-F238E27FC236}">
                <a16:creationId xmlns:a16="http://schemas.microsoft.com/office/drawing/2014/main" id="{8D8CF9D2-EFC5-A7A3-E635-ECFA9DB687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6089" y="826444"/>
            <a:ext cx="914400" cy="914400"/>
          </a:xfrm>
          <a:prstGeom prst="rect">
            <a:avLst/>
          </a:prstGeom>
        </p:spPr>
      </p:pic>
      <p:pic>
        <p:nvPicPr>
          <p:cNvPr id="24" name="Γραφικό 23" descr="Χρήστης περίγραμμα">
            <a:extLst>
              <a:ext uri="{FF2B5EF4-FFF2-40B4-BE49-F238E27FC236}">
                <a16:creationId xmlns:a16="http://schemas.microsoft.com/office/drawing/2014/main" id="{44BCED8A-1118-44A2-CC57-82E8C897C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3106" y="820198"/>
            <a:ext cx="914400" cy="914400"/>
          </a:xfrm>
          <a:prstGeom prst="rect">
            <a:avLst/>
          </a:prstGeom>
        </p:spPr>
      </p:pic>
      <p:pic>
        <p:nvPicPr>
          <p:cNvPr id="25" name="Γραφικό 24" descr="Χρήστης περίγραμμα">
            <a:extLst>
              <a:ext uri="{FF2B5EF4-FFF2-40B4-BE49-F238E27FC236}">
                <a16:creationId xmlns:a16="http://schemas.microsoft.com/office/drawing/2014/main" id="{9A0DD762-EE58-6D1D-2536-942DCDE31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9072" y="818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5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noProof="0" dirty="0"/>
              <a:t>SCALING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445988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/>
              <a:t>Strong scaling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191" y="2782071"/>
            <a:ext cx="3776828" cy="2524910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00A21143-EE51-16BA-F6B7-43EE9123E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5151" y="2228003"/>
            <a:ext cx="6725658" cy="3633047"/>
          </a:xfrm>
        </p:spPr>
        <p:txBody>
          <a:bodyPr>
            <a:normAutofit/>
          </a:bodyPr>
          <a:lstStyle/>
          <a:p>
            <a:r>
              <a:rPr lang="en-US" sz="2400" dirty="0"/>
              <a:t>Definition: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Fixed problem size, increase processors</a:t>
            </a:r>
          </a:p>
          <a:p>
            <a:r>
              <a:rPr lang="en-US" sz="2400" dirty="0"/>
              <a:t>Ideal: Runtime ∝ 1 / P</a:t>
            </a:r>
          </a:p>
          <a:p>
            <a:r>
              <a:rPr lang="en-US" sz="2400" dirty="0"/>
              <a:t>Metrics: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Speedup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7539188-A335-BF9A-C366-1FE4926A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STRONG SCALING - </a:t>
            </a:r>
            <a:r>
              <a:rPr lang="en-US" sz="3600" b="1" dirty="0"/>
              <a:t>SERIAL</a:t>
            </a:r>
            <a:endParaRPr lang="en-GB" sz="36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39E9C4D-8626-8999-8C86-4E28FCB3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Reference</a:t>
            </a:r>
          </a:p>
          <a:p>
            <a:r>
              <a:rPr lang="en-US" dirty="0"/>
              <a:t>No scaling (speedup =1)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Ορθογώνιο 3" descr="Πλακέτα κυκλώματος">
            <a:extLst>
              <a:ext uri="{FF2B5EF4-FFF2-40B4-BE49-F238E27FC236}">
                <a16:creationId xmlns:a16="http://schemas.microsoft.com/office/drawing/2014/main" id="{4C30EED5-9FCC-5F10-FF4A-AB4DD984A070}"/>
              </a:ext>
            </a:extLst>
          </p:cNvPr>
          <p:cNvSpPr/>
          <p:nvPr/>
        </p:nvSpPr>
        <p:spPr>
          <a:xfrm>
            <a:off x="1047026" y="3713332"/>
            <a:ext cx="1680455" cy="1680455"/>
          </a:xfrm>
          <a:prstGeom prst="rect">
            <a:avLst/>
          </a:prstGeom>
          <a:blipFill>
            <a:blip r:embed="rId2"/>
            <a:srcRect/>
            <a:stretch>
              <a:fillRect l="-25000" r="-25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7" name="Πίνακας 6">
            <a:extLst>
              <a:ext uri="{FF2B5EF4-FFF2-40B4-BE49-F238E27FC236}">
                <a16:creationId xmlns:a16="http://schemas.microsoft.com/office/drawing/2014/main" id="{9E6D3889-B0C4-9BD6-5BDA-55423D8CE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547961"/>
              </p:ext>
            </p:extLst>
          </p:nvPr>
        </p:nvGraphicFramePr>
        <p:xfrm>
          <a:off x="3993591" y="2460087"/>
          <a:ext cx="7491956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1956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Binary: </a:t>
                      </a:r>
                      <a:r>
                        <a:rPr lang="en-GB" dirty="0" err="1"/>
                        <a:t>serialMux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Size 1024: baseline T1 = 9.647000 s</a:t>
                      </a:r>
                    </a:p>
                    <a:p>
                      <a:r>
                        <a:rPr lang="en-GB" dirty="0"/>
                        <a:t>  p=2: T=9.418500 s, speedup=1.024, eff=51.2%</a:t>
                      </a:r>
                    </a:p>
                    <a:p>
                      <a:r>
                        <a:rPr lang="en-GB" dirty="0"/>
                        <a:t>  p=4: T=9.287000 s, speedup=1.039, eff=26.0%</a:t>
                      </a:r>
                    </a:p>
                    <a:p>
                      <a:r>
                        <a:rPr lang="en-GB" dirty="0"/>
                        <a:t>  p=8: T=9.731000 s, speedup=0.991, eff=12.4%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Size 2056: baseline T1 = 86.632000 s</a:t>
                      </a:r>
                    </a:p>
                    <a:p>
                      <a:r>
                        <a:rPr lang="en-GB" dirty="0"/>
                        <a:t>  p=2: T=83.882500 s, speedup=1.033, eff=51.6%</a:t>
                      </a:r>
                    </a:p>
                    <a:p>
                      <a:r>
                        <a:rPr lang="en-GB" dirty="0"/>
                        <a:t>  p=4: T=85.107000 s, speedup=1.018, eff=25.4%</a:t>
                      </a:r>
                    </a:p>
                    <a:p>
                      <a:r>
                        <a:rPr lang="en-GB" dirty="0"/>
                        <a:t>  p=8: T=86.754500 s, speedup=0.999, eff=12.5%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1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74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38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96547EB-815A-6DC4-0FBE-8E2B1D08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comparison</a:t>
            </a:r>
            <a:endParaRPr lang="en-GB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06F0F4C3-9FAF-D401-7B1B-A67183B03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909" y="195967"/>
            <a:ext cx="11682182" cy="646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22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2EF29BB-5E2F-E9B2-0320-F37274F3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 performance</a:t>
            </a:r>
            <a:endParaRPr lang="en-GB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1E0419ED-B63C-4CA4-5EDF-9FFFAA6B3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87" y="137786"/>
            <a:ext cx="11892413" cy="658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7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F0006D-43B6-B6CA-9060-1A72FD59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STRONG SCALING - </a:t>
            </a:r>
            <a:r>
              <a:rPr lang="en-US" sz="3600" b="1" dirty="0" err="1">
                <a:solidFill>
                  <a:prstClr val="white"/>
                </a:solidFill>
                <a:latin typeface="Gill Sans MT" panose="020B0502020104020203"/>
              </a:rPr>
              <a:t>openmp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1B1FC30-883B-7AC0-72FA-2F40B2D1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increasing threads from 1 → 16, runtime decreases almost proportionally.</a:t>
            </a:r>
          </a:p>
          <a:p>
            <a:r>
              <a:rPr lang="en-US" dirty="0"/>
              <a:t>At the end, we can achieve </a:t>
            </a:r>
            <a:r>
              <a:rPr lang="en-US" b="1" dirty="0"/>
              <a:t>~14.7× speedup</a:t>
            </a:r>
            <a:r>
              <a:rPr lang="en-US" dirty="0"/>
              <a:t> and </a:t>
            </a:r>
            <a:r>
              <a:rPr lang="en-US" b="1" dirty="0"/>
              <a:t>~90% efficiency</a:t>
            </a:r>
            <a:r>
              <a:rPr lang="en-US" dirty="0"/>
              <a:t>.</a:t>
            </a:r>
          </a:p>
          <a:p>
            <a:r>
              <a:rPr lang="en-US" dirty="0"/>
              <a:t>Slight drop due to memory bandwidth saturation</a:t>
            </a:r>
          </a:p>
          <a:p>
            <a:r>
              <a:rPr lang="en-US" dirty="0"/>
              <a:t>Interpretation:</a:t>
            </a:r>
          </a:p>
          <a:p>
            <a:pPr lvl="1"/>
            <a:r>
              <a:rPr lang="en-US" dirty="0"/>
              <a:t>Good scaling for shared memory</a:t>
            </a:r>
          </a:p>
          <a:p>
            <a:pPr lvl="1"/>
            <a:r>
              <a:rPr lang="en-US" dirty="0"/>
              <a:t>Cache-friendly loop order (IKJ) helps</a:t>
            </a: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DA763A36-F6F7-8B0E-A74A-F0D6762283D8}"/>
              </a:ext>
            </a:extLst>
          </p:cNvPr>
          <p:cNvSpPr/>
          <p:nvPr/>
        </p:nvSpPr>
        <p:spPr>
          <a:xfrm>
            <a:off x="9614830" y="2588772"/>
            <a:ext cx="1680455" cy="1680455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 l="-41000" r="-41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0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2DD5-BB6C-2D29-EC4C-71888941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E9ED92D-6148-94B3-FBDF-450F6365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STRONG SCALING - </a:t>
            </a:r>
            <a:r>
              <a:rPr lang="en-US" sz="3600" b="1" dirty="0" err="1"/>
              <a:t>mpi</a:t>
            </a:r>
            <a:endParaRPr lang="en-GB" sz="36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D97E750-A0BC-269D-B70D-72BEB39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433383" cy="3678303"/>
          </a:xfrm>
        </p:spPr>
        <p:txBody>
          <a:bodyPr/>
          <a:lstStyle/>
          <a:p>
            <a:r>
              <a:rPr lang="en-US" dirty="0"/>
              <a:t>MPI shows the </a:t>
            </a:r>
            <a:r>
              <a:rPr lang="en-US" b="1" dirty="0"/>
              <a:t>best strong scaling</a:t>
            </a:r>
            <a:r>
              <a:rPr lang="en-US" dirty="0"/>
              <a:t> of all CPU implementations.</a:t>
            </a:r>
          </a:p>
          <a:p>
            <a:r>
              <a:rPr lang="en-US" dirty="0"/>
              <a:t>Efficiency ≈ 95% (</a:t>
            </a:r>
            <a:r>
              <a:rPr lang="en-GB" b="1" dirty="0"/>
              <a:t>~15.4× speedup)</a:t>
            </a:r>
            <a:endParaRPr lang="en-US" dirty="0"/>
          </a:p>
          <a:p>
            <a:r>
              <a:rPr lang="en-US" dirty="0"/>
              <a:t>Very close to ideal</a:t>
            </a:r>
          </a:p>
          <a:p>
            <a:r>
              <a:rPr lang="en-US" dirty="0"/>
              <a:t>Interpretation:</a:t>
            </a:r>
          </a:p>
          <a:p>
            <a:pPr lvl="1"/>
            <a:r>
              <a:rPr lang="en-US" dirty="0"/>
              <a:t>Distributed memory avoids bandwidth bottlenecks</a:t>
            </a:r>
          </a:p>
          <a:p>
            <a:pPr lvl="1"/>
            <a:r>
              <a:rPr lang="en-US" dirty="0"/>
              <a:t>Communication overhead small for N = 4096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2B2585E9-8BA8-1906-B5CB-A2A5360B4345}"/>
              </a:ext>
            </a:extLst>
          </p:cNvPr>
          <p:cNvSpPr/>
          <p:nvPr/>
        </p:nvSpPr>
        <p:spPr>
          <a:xfrm>
            <a:off x="10512199" y="665373"/>
            <a:ext cx="1098609" cy="1037262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 l="-32000" r="-32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6" name="Πίνακας 5">
            <a:extLst>
              <a:ext uri="{FF2B5EF4-FFF2-40B4-BE49-F238E27FC236}">
                <a16:creationId xmlns:a16="http://schemas.microsoft.com/office/drawing/2014/main" id="{EF35CDCE-E061-CA67-2859-925C7D9F4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518666"/>
              </p:ext>
            </p:extLst>
          </p:nvPr>
        </p:nvGraphicFramePr>
        <p:xfrm>
          <a:off x="6392610" y="2180496"/>
          <a:ext cx="5182222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2222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Binary: </a:t>
                      </a:r>
                      <a:r>
                        <a:rPr lang="en-GB" dirty="0" err="1"/>
                        <a:t>mpiMux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 1024: baseline T1 = 1.737085 s</a:t>
                      </a:r>
                    </a:p>
                    <a:p>
                      <a:r>
                        <a:rPr lang="en-US" dirty="0"/>
                        <a:t>  p=2: T=1.003811 s, speedup=1.730, eff=86.5%</a:t>
                      </a:r>
                    </a:p>
                    <a:p>
                      <a:r>
                        <a:rPr lang="en-US" dirty="0"/>
                        <a:t>  p=4: T=0.492298 s, speedup=3.529, eff=88.2%</a:t>
                      </a:r>
                    </a:p>
                    <a:p>
                      <a:r>
                        <a:rPr lang="en-US" dirty="0"/>
                        <a:t>  p=8: T=0.224643 s, speedup=7.733, eff=96.7%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Size 2056: baseline T1 = 16.496046 s</a:t>
                      </a:r>
                    </a:p>
                    <a:p>
                      <a:r>
                        <a:rPr lang="en-GB" dirty="0"/>
                        <a:t>  p=2: T=8.301734 s, speedup=1.987, eff=99.4%</a:t>
                      </a:r>
                    </a:p>
                    <a:p>
                      <a:r>
                        <a:rPr lang="en-GB" dirty="0"/>
                        <a:t>  p=4: T=3.572942 s, speedup=4.617, eff=115.4%</a:t>
                      </a:r>
                    </a:p>
                    <a:p>
                      <a:r>
                        <a:rPr lang="en-GB" dirty="0"/>
                        <a:t>  p=8: T=2.023423 s, speedup=8.153, eff=101.9%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1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Size 4096: baseline T1 = 128.587012 s</a:t>
                      </a:r>
                    </a:p>
                    <a:p>
                      <a:r>
                        <a:rPr lang="en-GB" dirty="0"/>
                        <a:t>  p=2: T=65.760728 s, speedup=1.955, eff=97.8%</a:t>
                      </a:r>
                    </a:p>
                    <a:p>
                      <a:r>
                        <a:rPr lang="en-GB" dirty="0"/>
                        <a:t>  p=4: T=32.623750 s, speedup=3.942, eff=98.5%</a:t>
                      </a:r>
                    </a:p>
                    <a:p>
                      <a:r>
                        <a:rPr lang="en-GB" dirty="0"/>
                        <a:t>  p=8: T=16.463687 s, speedup=7.810, eff=97.6%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74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40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61E0C-4191-CA84-3BB0-BDD15540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A610198-2A66-6732-50DD-D86B251D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STRONG SCALING - </a:t>
            </a:r>
            <a:r>
              <a:rPr lang="en-US" sz="3600" b="1" dirty="0"/>
              <a:t>CUDA</a:t>
            </a:r>
            <a:endParaRPr lang="en-GB" sz="36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F58104-686D-51F0-BC66-FC9748CE7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CUDA runtime is extremely small (~0.00058s) and</a:t>
            </a:r>
            <a:br>
              <a:rPr lang="en-US" dirty="0"/>
            </a:br>
            <a:r>
              <a:rPr lang="en-US" dirty="0"/>
              <a:t>almost constant across sizes</a:t>
            </a:r>
            <a:endParaRPr lang="en-GB" dirty="0"/>
          </a:p>
          <a:p>
            <a:r>
              <a:rPr lang="en-GB" dirty="0"/>
              <a:t>Interpretations:</a:t>
            </a:r>
          </a:p>
          <a:p>
            <a:pPr lvl="1"/>
            <a:r>
              <a:rPr lang="en-GB" dirty="0"/>
              <a:t>GPU is a fixed resource → cannot “add processors”</a:t>
            </a:r>
          </a:p>
          <a:p>
            <a:pPr lvl="1"/>
            <a:r>
              <a:rPr lang="en-GB" dirty="0"/>
              <a:t>Kernel launch overhead dominates</a:t>
            </a:r>
          </a:p>
          <a:p>
            <a:pPr lvl="1"/>
            <a:r>
              <a:rPr lang="en-GB" dirty="0"/>
              <a:t>GPU massively underutilized for these matrix sizes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F2DA4B26-3B8D-400B-0252-66E944DDD0CE}"/>
              </a:ext>
            </a:extLst>
          </p:cNvPr>
          <p:cNvSpPr/>
          <p:nvPr/>
        </p:nvSpPr>
        <p:spPr>
          <a:xfrm>
            <a:off x="10340870" y="702156"/>
            <a:ext cx="1288909" cy="1013800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 l="-17000" r="-17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7" name="Πίνακας 6">
            <a:extLst>
              <a:ext uri="{FF2B5EF4-FFF2-40B4-BE49-F238E27FC236}">
                <a16:creationId xmlns:a16="http://schemas.microsoft.com/office/drawing/2014/main" id="{3A4CB694-836D-6ECF-BEFB-024AAE6AF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56879"/>
              </p:ext>
            </p:extLst>
          </p:nvPr>
        </p:nvGraphicFramePr>
        <p:xfrm>
          <a:off x="6976873" y="1766060"/>
          <a:ext cx="479425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4250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</a:tblGrid>
              <a:tr h="334107">
                <a:tc>
                  <a:txBody>
                    <a:bodyPr/>
                    <a:lstStyle/>
                    <a:p>
                      <a:r>
                        <a:rPr lang="en-GB" dirty="0"/>
                        <a:t>Binary: </a:t>
                      </a:r>
                      <a:r>
                        <a:rPr lang="en-GB" dirty="0" err="1"/>
                        <a:t>cudaMux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1085849">
                <a:tc>
                  <a:txBody>
                    <a:bodyPr/>
                    <a:lstStyle/>
                    <a:p>
                      <a:r>
                        <a:rPr lang="en-US" dirty="0"/>
                        <a:t>Size 1024: baseline T1 = 0.006667 s</a:t>
                      </a:r>
                    </a:p>
                    <a:p>
                      <a:r>
                        <a:rPr lang="en-US" dirty="0"/>
                        <a:t>  p=2: T=0.000581 s, speedup=11.466, eff=573.3%</a:t>
                      </a:r>
                    </a:p>
                    <a:p>
                      <a:r>
                        <a:rPr lang="en-US" dirty="0"/>
                        <a:t>  p=4: T=0.000620 s, speedup=10.745, eff=268.6%</a:t>
                      </a:r>
                    </a:p>
                    <a:p>
                      <a:r>
                        <a:rPr lang="en-US" dirty="0"/>
                        <a:t>  p=8: T=0.000579 s, speedup=11.516, eff=143.9%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1085849">
                <a:tc>
                  <a:txBody>
                    <a:bodyPr/>
                    <a:lstStyle/>
                    <a:p>
                      <a:r>
                        <a:rPr lang="en-US" dirty="0"/>
                        <a:t>Size 2056: baseline T1 = 0.003641 s</a:t>
                      </a:r>
                    </a:p>
                    <a:p>
                      <a:r>
                        <a:rPr lang="en-US" dirty="0"/>
                        <a:t>  p=2: T=0.003633 s, speedup=1.002, eff=50.1%</a:t>
                      </a:r>
                    </a:p>
                    <a:p>
                      <a:r>
                        <a:rPr lang="en-US" dirty="0"/>
                        <a:t>  p=4: T=0.003629 s, speedup=1.003, eff=25.1%</a:t>
                      </a:r>
                    </a:p>
                    <a:p>
                      <a:r>
                        <a:rPr lang="en-US" dirty="0"/>
                        <a:t>  p=8: T=0.003637 s, speedup=1.001, eff=12.5%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10664"/>
                  </a:ext>
                </a:extLst>
              </a:tr>
              <a:tr h="1085849">
                <a:tc>
                  <a:txBody>
                    <a:bodyPr/>
                    <a:lstStyle/>
                    <a:p>
                      <a:r>
                        <a:rPr lang="en-US" dirty="0"/>
                        <a:t>Size 4096: baseline T1 = 0.026578 s</a:t>
                      </a:r>
                    </a:p>
                    <a:p>
                      <a:r>
                        <a:rPr lang="en-US" dirty="0"/>
                        <a:t>  p=2: T=0.026583 s, speedup=1.000, eff=50.0%</a:t>
                      </a:r>
                    </a:p>
                    <a:p>
                      <a:r>
                        <a:rPr lang="en-US" dirty="0"/>
                        <a:t>  p=4: T=0.026698 s, speedup=0.996, eff=24.9%</a:t>
                      </a:r>
                    </a:p>
                    <a:p>
                      <a:r>
                        <a:rPr lang="en-US" dirty="0"/>
                        <a:t>  p=8: T=0.026608 s, speedup=0.999, eff=12.5%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606399"/>
                  </a:ext>
                </a:extLst>
              </a:tr>
              <a:tr h="1085849">
                <a:tc>
                  <a:txBody>
                    <a:bodyPr/>
                    <a:lstStyle/>
                    <a:p>
                      <a:r>
                        <a:rPr lang="en-US" dirty="0"/>
                        <a:t>Size 6144: baseline T1 = 0.089160 s</a:t>
                      </a:r>
                    </a:p>
                    <a:p>
                      <a:r>
                        <a:rPr lang="en-US" dirty="0"/>
                        <a:t>  p=2: T=0.089307 s, speedup=0.998, eff=49.9%</a:t>
                      </a:r>
                    </a:p>
                    <a:p>
                      <a:r>
                        <a:rPr lang="en-US" dirty="0"/>
                        <a:t>  p=4: T=0.089263 s, speedup=0.999, eff=25.0%</a:t>
                      </a:r>
                    </a:p>
                    <a:p>
                      <a:r>
                        <a:rPr lang="en-US" dirty="0"/>
                        <a:t>  p=8: T=0.089195 s, speedup=1.000, eff=12.5%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62789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CBFB421-2C76-1BDD-DD1D-9D0DFDAF2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scaling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meaningful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 the GPU is a fixed resource — you cannot “add processors” like with CPU threads.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495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C916-6F21-F4C5-52B2-70C689FA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688E-CD27-C717-B082-173D05AB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Weak</a:t>
            </a:r>
            <a:r>
              <a:rPr lang="en-US" sz="3600" noProof="0" dirty="0"/>
              <a:t> scaling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25154824-94B8-3CE3-A308-1E7CECEA6B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191" y="2782071"/>
            <a:ext cx="3776828" cy="2524910"/>
          </a:xfrm>
        </p:spPr>
      </p:pic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B536537F-3477-A1FF-1245-3D9975A76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5151" y="2228003"/>
            <a:ext cx="6725658" cy="3633047"/>
          </a:xfrm>
        </p:spPr>
        <p:txBody>
          <a:bodyPr>
            <a:normAutofit/>
          </a:bodyPr>
          <a:lstStyle/>
          <a:p>
            <a:r>
              <a:rPr lang="en-US" sz="2400" dirty="0"/>
              <a:t>Definition: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Increase problem size proportionally with processors</a:t>
            </a:r>
          </a:p>
          <a:p>
            <a:r>
              <a:rPr lang="en-US" sz="2400" dirty="0"/>
              <a:t>Ideal: Runtime stays constant</a:t>
            </a:r>
          </a:p>
        </p:txBody>
      </p:sp>
    </p:spTree>
    <p:extLst>
      <p:ext uri="{BB962C8B-B14F-4D97-AF65-F5344CB8AC3E}">
        <p14:creationId xmlns:p14="http://schemas.microsoft.com/office/powerpoint/2010/main" val="232953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253D188-4093-A540-9E3D-800406756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7C61A809-F8DC-67B5-520B-E9CB6932C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66371" y="5447153"/>
            <a:ext cx="5869987" cy="689515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489D11D1-8EC4-1682-3223-B086444B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69" y="3521642"/>
            <a:ext cx="5676919" cy="3406151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757EE318-3481-FA9E-75CA-12B27D03F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363" y="0"/>
            <a:ext cx="5759637" cy="3455782"/>
          </a:xfrm>
          <a:prstGeom prst="rect">
            <a:avLst/>
          </a:prstGeom>
        </p:spPr>
      </p:pic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F43FEB4A-7CE0-DE32-06A7-8955C7E0E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052"/>
            <a:ext cx="5967514" cy="3580508"/>
          </a:xfrm>
          <a:prstGeom prst="rect">
            <a:avLst/>
          </a:prstGeom>
        </p:spPr>
      </p:pic>
      <p:pic>
        <p:nvPicPr>
          <p:cNvPr id="9" name="Θέση περιεχομένου 8">
            <a:extLst>
              <a:ext uri="{FF2B5EF4-FFF2-40B4-BE49-F238E27FC236}">
                <a16:creationId xmlns:a16="http://schemas.microsoft.com/office/drawing/2014/main" id="{0BAD01CA-853F-74F1-1513-2D8CFC3A3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369733" y="3438892"/>
            <a:ext cx="5761250" cy="34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64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EDF633-6572-EEFD-2907-C9FB0CDC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9A91A74-435C-04EF-F005-AD1C7B22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 performance</a:t>
            </a:r>
            <a:endParaRPr lang="en-GB" dirty="0"/>
          </a:p>
        </p:txBody>
      </p:sp>
      <p:pic>
        <p:nvPicPr>
          <p:cNvPr id="7" name="Θέση περιεχομένου 6">
            <a:extLst>
              <a:ext uri="{FF2B5EF4-FFF2-40B4-BE49-F238E27FC236}">
                <a16:creationId xmlns:a16="http://schemas.microsoft.com/office/drawing/2014/main" id="{00AD31D0-F09A-2F28-6402-B863D96E4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3249" y="2277189"/>
            <a:ext cx="6130397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54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E86D-C15A-437D-072D-DD0A32D3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FC1CB88-0B5D-3F5E-4E07-D1F23C58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weak SCALING - </a:t>
            </a:r>
            <a:r>
              <a:rPr lang="en-US" sz="3600" b="1" dirty="0"/>
              <a:t>SERIAL</a:t>
            </a:r>
            <a:endParaRPr lang="en-GB" sz="36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E7C0957-9F2E-96E5-DAE8-9FB7DCE9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Reference</a:t>
            </a:r>
          </a:p>
          <a:p>
            <a:r>
              <a:rPr lang="en-US" dirty="0"/>
              <a:t>No use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Ορθογώνιο 3" descr="Πλακέτα κυκλώματος">
            <a:extLst>
              <a:ext uri="{FF2B5EF4-FFF2-40B4-BE49-F238E27FC236}">
                <a16:creationId xmlns:a16="http://schemas.microsoft.com/office/drawing/2014/main" id="{3E74933E-89F7-A718-8B25-4347792AAB06}"/>
              </a:ext>
            </a:extLst>
          </p:cNvPr>
          <p:cNvSpPr/>
          <p:nvPr/>
        </p:nvSpPr>
        <p:spPr>
          <a:xfrm>
            <a:off x="1047026" y="3713332"/>
            <a:ext cx="1680455" cy="1680455"/>
          </a:xfrm>
          <a:prstGeom prst="rect">
            <a:avLst/>
          </a:prstGeom>
          <a:blipFill>
            <a:blip r:embed="rId2"/>
            <a:srcRect/>
            <a:stretch>
              <a:fillRect l="-25000" r="-25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Πίνακας 4">
            <a:extLst>
              <a:ext uri="{FF2B5EF4-FFF2-40B4-BE49-F238E27FC236}">
                <a16:creationId xmlns:a16="http://schemas.microsoft.com/office/drawing/2014/main" id="{B06F5272-CA20-EDC9-395E-1A22A743D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60473"/>
              </p:ext>
            </p:extLst>
          </p:nvPr>
        </p:nvGraphicFramePr>
        <p:xfrm>
          <a:off x="6024199" y="2786232"/>
          <a:ext cx="55866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652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1365551074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267537762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3341281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binary,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procs,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Size,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serialMux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4.0842345 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serialMux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30.0272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0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serialMux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4096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379.2667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serialMux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2048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39.3443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045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62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666A-3CAA-A760-9568-7B46CBEE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82022F2-6A13-6EBE-D00F-6E9C077F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weak SCALING - </a:t>
            </a:r>
            <a:r>
              <a:rPr lang="en-US" sz="3600" b="1" dirty="0" err="1">
                <a:solidFill>
                  <a:prstClr val="white"/>
                </a:solidFill>
                <a:latin typeface="Gill Sans MT" panose="020B0502020104020203"/>
              </a:rPr>
              <a:t>openmp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C20AA3F-513F-6287-AF24-CF0024C05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Runtime increases a little</a:t>
            </a:r>
          </a:p>
          <a:p>
            <a:r>
              <a:rPr lang="en-US" dirty="0"/>
              <a:t>We notice an overhead</a:t>
            </a:r>
          </a:p>
          <a:p>
            <a:r>
              <a:rPr lang="en-US" dirty="0"/>
              <a:t>Interpretation:</a:t>
            </a:r>
          </a:p>
          <a:p>
            <a:pPr lvl="1"/>
            <a:r>
              <a:rPr lang="en-US" dirty="0"/>
              <a:t>Shared memory → bandwidth contention</a:t>
            </a:r>
          </a:p>
          <a:p>
            <a:pPr lvl="1"/>
            <a:r>
              <a:rPr lang="en-US" dirty="0"/>
              <a:t>Acceptable but not ideal</a:t>
            </a:r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25161428-108C-0FD2-A2D3-322E45416B99}"/>
              </a:ext>
            </a:extLst>
          </p:cNvPr>
          <p:cNvSpPr/>
          <p:nvPr/>
        </p:nvSpPr>
        <p:spPr>
          <a:xfrm>
            <a:off x="10552642" y="702155"/>
            <a:ext cx="1058165" cy="1013801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 l="-41000" r="-41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8" name="Πίνακας 7">
            <a:extLst>
              <a:ext uri="{FF2B5EF4-FFF2-40B4-BE49-F238E27FC236}">
                <a16:creationId xmlns:a16="http://schemas.microsoft.com/office/drawing/2014/main" id="{6B610830-9A87-9988-EBCC-D107D54A0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862982"/>
              </p:ext>
            </p:extLst>
          </p:nvPr>
        </p:nvGraphicFramePr>
        <p:xfrm>
          <a:off x="5933161" y="2907127"/>
          <a:ext cx="55866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652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1365551074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267537762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3341281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binary,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procs,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Size,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openMPMux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1.7010 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openMPMux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1.7972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0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openMPMux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1.8667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openMPMux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2048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1.9443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045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openMPMux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1.9136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571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912F-E6FE-6BAA-01B8-047AF924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4C767BC-9966-C0DE-6F86-2DDA4E9A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weak SCALING - </a:t>
            </a:r>
            <a:r>
              <a:rPr lang="en-US" sz="3600" b="1" dirty="0" err="1"/>
              <a:t>mpi</a:t>
            </a:r>
            <a:endParaRPr lang="en-GB" sz="36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908828F-873F-1D77-0717-DB9C06948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Runtime stays roughly constant</a:t>
            </a:r>
            <a:r>
              <a:rPr lang="en-US" dirty="0"/>
              <a:t> </a:t>
            </a:r>
          </a:p>
          <a:p>
            <a:r>
              <a:rPr lang="en-US" dirty="0"/>
              <a:t>Interpretations:</a:t>
            </a:r>
          </a:p>
          <a:p>
            <a:pPr lvl="1"/>
            <a:r>
              <a:rPr lang="en-US" dirty="0"/>
              <a:t>Better than OpenMP</a:t>
            </a:r>
          </a:p>
          <a:p>
            <a:pPr lvl="1"/>
            <a:r>
              <a:rPr lang="en-US" dirty="0"/>
              <a:t>Distributed memory handles weak scaling well</a:t>
            </a:r>
          </a:p>
          <a:p>
            <a:pPr lvl="1"/>
            <a:r>
              <a:rPr lang="en-US" dirty="0"/>
              <a:t>Communication overhead grows slowly</a:t>
            </a:r>
            <a:endParaRPr lang="en-GB" dirty="0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8C1BC22F-8159-D92E-EE32-94C6DB71193C}"/>
              </a:ext>
            </a:extLst>
          </p:cNvPr>
          <p:cNvSpPr/>
          <p:nvPr/>
        </p:nvSpPr>
        <p:spPr>
          <a:xfrm>
            <a:off x="10580267" y="702156"/>
            <a:ext cx="1030540" cy="1013800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 l="-32000" r="-32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415E3F1D-30F1-E3AA-E1CB-23389D03B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94184"/>
              </p:ext>
            </p:extLst>
          </p:nvPr>
        </p:nvGraphicFramePr>
        <p:xfrm>
          <a:off x="5873105" y="2907127"/>
          <a:ext cx="55866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652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1365551074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267537762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3341281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binary,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procs,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Size,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mpi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1.6903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mpi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1.7578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0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mpi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mpi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2048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1.78139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045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mpi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1.0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471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3EFC-53B0-E0D0-17C3-0DD04528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C994F1-2BCC-2DEB-AC87-9F997F78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weak SCALING - </a:t>
            </a:r>
            <a:r>
              <a:rPr lang="en-US" sz="3600" b="1" dirty="0"/>
              <a:t>CUDA</a:t>
            </a:r>
            <a:endParaRPr lang="en-GB" sz="3600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A557043-C1E9-8DC0-5643-FF4CD0578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CUDA times constant across sizes</a:t>
            </a:r>
          </a:p>
          <a:p>
            <a:r>
              <a:rPr lang="en-GB" dirty="0"/>
              <a:t>Interpretation:</a:t>
            </a:r>
          </a:p>
          <a:p>
            <a:pPr lvl="1"/>
            <a:r>
              <a:rPr lang="en-US" dirty="0"/>
              <a:t>Weak scaling not meaningful</a:t>
            </a:r>
          </a:p>
          <a:p>
            <a:pPr lvl="1"/>
            <a:r>
              <a:rPr lang="en-US" dirty="0"/>
              <a:t>Kernel overhead dominates</a:t>
            </a:r>
          </a:p>
          <a:p>
            <a:pPr lvl="1"/>
            <a:r>
              <a:rPr lang="en-US" dirty="0"/>
              <a:t>GPU not stressed enough</a:t>
            </a:r>
            <a:endParaRPr lang="en-GB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65922D27-D840-3811-8793-1EF3F24663A5}"/>
              </a:ext>
            </a:extLst>
          </p:cNvPr>
          <p:cNvSpPr/>
          <p:nvPr/>
        </p:nvSpPr>
        <p:spPr>
          <a:xfrm>
            <a:off x="10484737" y="689630"/>
            <a:ext cx="1138596" cy="1038197"/>
          </a:xfrm>
          <a:prstGeom prst="rect">
            <a:avLst/>
          </a:prstGeom>
          <a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>
              <a:fillRect l="-17000" r="-17000"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Πίνακας 4">
            <a:extLst>
              <a:ext uri="{FF2B5EF4-FFF2-40B4-BE49-F238E27FC236}">
                <a16:creationId xmlns:a16="http://schemas.microsoft.com/office/drawing/2014/main" id="{82AE7114-1BF0-13FB-0EC6-AFBF1D7D4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92445"/>
              </p:ext>
            </p:extLst>
          </p:nvPr>
        </p:nvGraphicFramePr>
        <p:xfrm>
          <a:off x="5898157" y="3264023"/>
          <a:ext cx="418995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652">
                  <a:extLst>
                    <a:ext uri="{9D8B030D-6E8A-4147-A177-3AD203B41FA5}">
                      <a16:colId xmlns:a16="http://schemas.microsoft.com/office/drawing/2014/main" val="256526951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267537762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3341281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binary,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Size,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7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0.000581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7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cuda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2048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 000576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0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cuda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4096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 000593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cuda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6144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 000607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96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916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8E486ED-7CB9-B3E8-E090-7224BD8F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CEE5054-65DC-3AD3-C04F-F46F3215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MPI provides the best strong and weak scaling because distributed memory avoids bandwidth bottlenecks. </a:t>
            </a:r>
          </a:p>
          <a:p>
            <a:r>
              <a:rPr lang="en-US" dirty="0"/>
              <a:t>OpenMP also scales well, especially in strong scaling, but is limited by shared memory. </a:t>
            </a:r>
          </a:p>
          <a:p>
            <a:r>
              <a:rPr lang="en-US" dirty="0"/>
              <a:t>CUDA is by far the fastest implementation in absolute runtime, but scaling metrics are not meaningful because the GPU is a fixed resource. </a:t>
            </a:r>
          </a:p>
          <a:p>
            <a:r>
              <a:rPr lang="en-US" dirty="0"/>
              <a:t>The serial implementation serves as a correctness and performance baseline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5648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noProof="0" dirty="0">
              <a:solidFill>
                <a:schemeClr val="bg2"/>
              </a:solidFill>
            </a:endParaRPr>
          </a:p>
          <a:p>
            <a:endParaRPr lang="en-US" noProof="0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EA2D34858EBD4DB456DB5533CFA979" ma:contentTypeVersion="5" ma:contentTypeDescription="Opret et nyt dokument." ma:contentTypeScope="" ma:versionID="5a4bc639bfb9a4af807ce72c00bdc6d2">
  <xsd:schema xmlns:xsd="http://www.w3.org/2001/XMLSchema" xmlns:xs="http://www.w3.org/2001/XMLSchema" xmlns:p="http://schemas.microsoft.com/office/2006/metadata/properties" xmlns:ns3="f1fc532d-9257-4f1f-8e53-7ef43d46da71" targetNamespace="http://schemas.microsoft.com/office/2006/metadata/properties" ma:root="true" ma:fieldsID="7846367878d46f8dda97eabe36bd87d2" ns3:_="">
    <xsd:import namespace="f1fc532d-9257-4f1f-8e53-7ef43d46da7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fc532d-9257-4f1f-8e53-7ef43d46da7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fc532d-9257-4f1f-8e53-7ef43d46da7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D31CDA-5AFD-4763-874E-4BDF49981E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fc532d-9257-4f1f-8e53-7ef43d46da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f1fc532d-9257-4f1f-8e53-7ef43d46da7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1035</TotalTime>
  <Words>1363</Words>
  <Application>Microsoft Office PowerPoint</Application>
  <PresentationFormat>Ευρεία οθόνη</PresentationFormat>
  <Paragraphs>250</Paragraphs>
  <Slides>22</Slides>
  <Notes>6</Notes>
  <HiddenSlides>1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22</vt:i4>
      </vt:variant>
    </vt:vector>
  </HeadingPairs>
  <TitlesOfParts>
    <vt:vector size="29" baseType="lpstr">
      <vt:lpstr>Arial</vt:lpstr>
      <vt:lpstr>Calibri</vt:lpstr>
      <vt:lpstr>Corbel</vt:lpstr>
      <vt:lpstr>Gill Sans MT</vt:lpstr>
      <vt:lpstr>Wingdings</vt:lpstr>
      <vt:lpstr>Wingdings 2</vt:lpstr>
      <vt:lpstr>Custom</vt:lpstr>
      <vt:lpstr>DM8100 – high Performance computing | EXAM PROJECT</vt:lpstr>
      <vt:lpstr>Problem overview</vt:lpstr>
      <vt:lpstr>Experimental setup</vt:lpstr>
      <vt:lpstr>PARADIGMS</vt:lpstr>
      <vt:lpstr>Team split </vt:lpstr>
      <vt:lpstr>SCALING</vt:lpstr>
      <vt:lpstr>Strong scaling</vt:lpstr>
      <vt:lpstr>STRONG SCALING - SERIAL</vt:lpstr>
      <vt:lpstr>Efficiency comparison</vt:lpstr>
      <vt:lpstr>Speedup performance</vt:lpstr>
      <vt:lpstr>STRONG SCALING - openmp</vt:lpstr>
      <vt:lpstr>STRONG SCALING - mpi</vt:lpstr>
      <vt:lpstr>STRONG SCALING - CUDA</vt:lpstr>
      <vt:lpstr>Weak scaling</vt:lpstr>
      <vt:lpstr>Παρουσίαση του PowerPoint</vt:lpstr>
      <vt:lpstr>Speedup performance</vt:lpstr>
      <vt:lpstr>weak SCALING - SERIAL</vt:lpstr>
      <vt:lpstr>weak SCALING - openmp</vt:lpstr>
      <vt:lpstr>weak SCALING - mpi</vt:lpstr>
      <vt:lpstr>weak SCALING - CUDA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Antigoni Karagiannaki</dc:creator>
  <cp:lastModifiedBy>Antigoni Karagiannaki</cp:lastModifiedBy>
  <cp:revision>2</cp:revision>
  <dcterms:created xsi:type="dcterms:W3CDTF">2026-05-19T12:53:37Z</dcterms:created>
  <dcterms:modified xsi:type="dcterms:W3CDTF">2026-05-21T00:19:26Z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0x010100F9EA2D34858EBD4DB456DB5533CFA979</vt:lpwstr>
  </property>
</Properties>
</file>